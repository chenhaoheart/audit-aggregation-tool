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5F"/>
        </a:solidFill>
      </p:bgPr>
    </p:bg>
    <p:spTree>
      <p:nvGrpSpPr>
        <p:cNvPr id="1" name=""/>
        <p:cNvGrpSpPr/>
        <p:nvPr/>
      </p:nvGrpSpPr>
      <p:grpSpPr>
        <a:xfrm>
          <a:off x="0" y="0"/>
          <a:ext cx="0" cy="0"/>
          <a:chOff x="0" y="0"/>
          <a:chExt cx="0" cy="0"/>
        </a:xfrm>
      </p:grpSpPr>
      <p:sp>
        <p:nvSpPr>
          <p:cNvPr id="2" name="Text 0"/>
          <p:cNvSpPr/>
          <p:nvPr/>
        </p:nvSpPr>
        <p:spPr>
          <a:xfrm>
            <a:off x="457200" y="1645920"/>
            <a:ext cx="8229600" cy="1097280"/>
          </a:xfrm>
          <a:prstGeom prst="rect">
            <a:avLst/>
          </a:prstGeom>
          <a:noFill/>
          <a:ln/>
        </p:spPr>
        <p:txBody>
          <a:bodyPr wrap="square" rtlCol="0" anchor="ctr"/>
          <a:lstStyle/>
          <a:p>
            <a:pPr algn="ctr" indent="0" marL="0">
              <a:buNone/>
            </a:pPr>
            <a:r>
              <a:rPr lang="en-US" sz="4400" b="1" dirty="0">
                <a:solidFill>
                  <a:srgbClr val="FFFFFF"/>
                </a:solidFill>
                <a:latin typeface="Microsoft YaHei" pitchFamily="34" charset="0"/>
                <a:ea typeface="Microsoft YaHei" pitchFamily="34" charset="-122"/>
                <a:cs typeface="Microsoft YaHei" pitchFamily="34" charset="-120"/>
              </a:rPr>
              <a:t>风险隐患调查成果审核工具</a:t>
            </a:r>
            <a:endParaRPr lang="en-US" sz="4400" dirty="0"/>
          </a:p>
        </p:txBody>
      </p:sp>
      <p:sp>
        <p:nvSpPr>
          <p:cNvPr id="3" name="Text 1"/>
          <p:cNvSpPr/>
          <p:nvPr/>
        </p:nvSpPr>
        <p:spPr>
          <a:xfrm>
            <a:off x="457200" y="2743200"/>
            <a:ext cx="8229600" cy="640080"/>
          </a:xfrm>
          <a:prstGeom prst="rect">
            <a:avLst/>
          </a:prstGeom>
          <a:noFill/>
          <a:ln/>
        </p:spPr>
        <p:txBody>
          <a:bodyPr wrap="square" rtlCol="0" anchor="ctr"/>
          <a:lstStyle/>
          <a:p>
            <a:pPr algn="ctr" indent="0" marL="0">
              <a:buNone/>
            </a:pPr>
            <a:r>
              <a:rPr lang="en-US" sz="2200" dirty="0">
                <a:solidFill>
                  <a:srgbClr val="FFFFFF"/>
                </a:solidFill>
                <a:latin typeface="Microsoft YaHei" pitchFamily="34" charset="0"/>
                <a:ea typeface="Microsoft YaHei" pitchFamily="34" charset="-122"/>
                <a:cs typeface="Microsoft YaHei" pitchFamily="34" charset="-120"/>
              </a:rPr>
              <a:t>应用场景、实施方法与效果对比</a:t>
            </a:r>
            <a:endParaRPr lang="en-US" sz="2200" dirty="0"/>
          </a:p>
        </p:txBody>
      </p:sp>
      <p:sp>
        <p:nvSpPr>
          <p:cNvPr id="4" name="Text 2"/>
          <p:cNvSpPr/>
          <p:nvPr/>
        </p:nvSpPr>
        <p:spPr>
          <a:xfrm>
            <a:off x="457200" y="4206240"/>
            <a:ext cx="8229600" cy="457200"/>
          </a:xfrm>
          <a:prstGeom prst="rect">
            <a:avLst/>
          </a:prstGeom>
          <a:noFill/>
          <a:ln/>
        </p:spPr>
        <p:txBody>
          <a:bodyPr wrap="square" rtlCol="0" anchor="ctr"/>
          <a:lstStyle/>
          <a:p>
            <a:pPr algn="ctr" indent="0" marL="0">
              <a:buNone/>
            </a:pPr>
            <a:r>
              <a:rPr lang="en-US" sz="1600" dirty="0">
                <a:solidFill>
                  <a:srgbClr val="FFFFFF"/>
                </a:solidFill>
                <a:latin typeface="Microsoft YaHei" pitchFamily="34" charset="0"/>
                <a:ea typeface="Microsoft YaHei" pitchFamily="34" charset="-122"/>
                <a:cs typeface="Microsoft YaHei" pitchFamily="34" charset="-120"/>
              </a:rPr>
              <a:t>软件中心 | 庞志平</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algn="ctr" indent="0" marL="0">
              <a:buNone/>
            </a:pPr>
            <a:r>
              <a:rPr lang="en-US" sz="3200" b="1" dirty="0">
                <a:solidFill>
                  <a:srgbClr val="1E3A5F"/>
                </a:solidFill>
                <a:latin typeface="Microsoft YaHei" pitchFamily="34" charset="0"/>
                <a:ea typeface="Microsoft YaHei" pitchFamily="34" charset="-122"/>
                <a:cs typeface="Microsoft YaHei" pitchFamily="34" charset="-120"/>
              </a:rPr>
              <a:t>目录</a:t>
            </a:r>
            <a:endParaRPr lang="en-US" sz="3200" dirty="0"/>
          </a:p>
        </p:txBody>
      </p:sp>
      <p:sp>
        <p:nvSpPr>
          <p:cNvPr id="3" name="Shape 1"/>
          <p:cNvSpPr/>
          <p:nvPr/>
        </p:nvSpPr>
        <p:spPr>
          <a:xfrm>
            <a:off x="3200400" y="1097280"/>
            <a:ext cx="2743200" cy="0"/>
          </a:xfrm>
          <a:prstGeom prst="line">
            <a:avLst/>
          </a:prstGeom>
          <a:noFill/>
          <a:ln w="25400">
            <a:solidFill>
              <a:srgbClr val="4A90D9"/>
            </a:solidFill>
            <a:prstDash val="solid"/>
          </a:ln>
        </p:spPr>
      </p:sp>
      <p:sp>
        <p:nvSpPr>
          <p:cNvPr id="4" name="Text 2"/>
          <p:cNvSpPr/>
          <p:nvPr/>
        </p:nvSpPr>
        <p:spPr>
          <a:xfrm>
            <a:off x="2286000" y="1645920"/>
            <a:ext cx="548640" cy="457200"/>
          </a:xfrm>
          <a:prstGeom prst="rect">
            <a:avLst/>
          </a:prstGeom>
          <a:noFill/>
          <a:ln/>
        </p:spPr>
        <p:txBody>
          <a:bodyPr wrap="square" rtlCol="0" anchor="ctr"/>
          <a:lstStyle/>
          <a:p>
            <a:pPr algn="ctr" indent="0" marL="0">
              <a:buNone/>
            </a:pPr>
            <a:r>
              <a:rPr lang="en-US" sz="2000" b="1" dirty="0">
                <a:solidFill>
                  <a:srgbClr val="4A90D9"/>
                </a:solidFill>
                <a:latin typeface="Arial" pitchFamily="34" charset="0"/>
                <a:ea typeface="Arial" pitchFamily="34" charset="-122"/>
                <a:cs typeface="Arial" pitchFamily="34" charset="-120"/>
              </a:rPr>
              <a:t>01</a:t>
            </a:r>
            <a:endParaRPr lang="en-US" sz="2000" dirty="0"/>
          </a:p>
        </p:txBody>
      </p:sp>
      <p:sp>
        <p:nvSpPr>
          <p:cNvPr id="5" name="Text 3"/>
          <p:cNvSpPr/>
          <p:nvPr/>
        </p:nvSpPr>
        <p:spPr>
          <a:xfrm>
            <a:off x="2926080" y="1645920"/>
            <a:ext cx="3657600" cy="457200"/>
          </a:xfrm>
          <a:prstGeom prst="rect">
            <a:avLst/>
          </a:prstGeom>
          <a:noFill/>
          <a:ln/>
        </p:spPr>
        <p:txBody>
          <a:bodyPr wrap="square" rtlCol="0" anchor="ctr"/>
          <a:lstStyle/>
          <a:p>
            <a:pPr indent="0" marL="0">
              <a:buNone/>
            </a:pPr>
            <a:r>
              <a:rPr lang="en-US" sz="2200" dirty="0">
                <a:solidFill>
                  <a:srgbClr val="333333"/>
                </a:solidFill>
                <a:latin typeface="Microsoft YaHei" pitchFamily="34" charset="0"/>
                <a:ea typeface="Microsoft YaHei" pitchFamily="34" charset="-122"/>
                <a:cs typeface="Microsoft YaHei" pitchFamily="34" charset="-120"/>
              </a:rPr>
              <a:t>概述与痛点分析</a:t>
            </a:r>
            <a:endParaRPr lang="en-US" sz="2200" dirty="0"/>
          </a:p>
        </p:txBody>
      </p:sp>
      <p:sp>
        <p:nvSpPr>
          <p:cNvPr id="6" name="Text 4"/>
          <p:cNvSpPr/>
          <p:nvPr/>
        </p:nvSpPr>
        <p:spPr>
          <a:xfrm>
            <a:off x="2286000" y="2286000"/>
            <a:ext cx="548640" cy="457200"/>
          </a:xfrm>
          <a:prstGeom prst="rect">
            <a:avLst/>
          </a:prstGeom>
          <a:noFill/>
          <a:ln/>
        </p:spPr>
        <p:txBody>
          <a:bodyPr wrap="square" rtlCol="0" anchor="ctr"/>
          <a:lstStyle/>
          <a:p>
            <a:pPr algn="ctr" indent="0" marL="0">
              <a:buNone/>
            </a:pPr>
            <a:r>
              <a:rPr lang="en-US" sz="2000" b="1" dirty="0">
                <a:solidFill>
                  <a:srgbClr val="4A90D9"/>
                </a:solidFill>
                <a:latin typeface="Arial" pitchFamily="34" charset="0"/>
                <a:ea typeface="Arial" pitchFamily="34" charset="-122"/>
                <a:cs typeface="Arial" pitchFamily="34" charset="-120"/>
              </a:rPr>
              <a:t>02</a:t>
            </a:r>
            <a:endParaRPr lang="en-US" sz="2000" dirty="0"/>
          </a:p>
        </p:txBody>
      </p:sp>
      <p:sp>
        <p:nvSpPr>
          <p:cNvPr id="7" name="Text 5"/>
          <p:cNvSpPr/>
          <p:nvPr/>
        </p:nvSpPr>
        <p:spPr>
          <a:xfrm>
            <a:off x="2926080" y="2286000"/>
            <a:ext cx="3657600" cy="457200"/>
          </a:xfrm>
          <a:prstGeom prst="rect">
            <a:avLst/>
          </a:prstGeom>
          <a:noFill/>
          <a:ln/>
        </p:spPr>
        <p:txBody>
          <a:bodyPr wrap="square" rtlCol="0" anchor="ctr"/>
          <a:lstStyle/>
          <a:p>
            <a:pPr indent="0" marL="0">
              <a:buNone/>
            </a:pPr>
            <a:r>
              <a:rPr lang="en-US" sz="2200" dirty="0">
                <a:solidFill>
                  <a:srgbClr val="333333"/>
                </a:solidFill>
                <a:latin typeface="Microsoft YaHei" pitchFamily="34" charset="0"/>
                <a:ea typeface="Microsoft YaHei" pitchFamily="34" charset="-122"/>
                <a:cs typeface="Microsoft YaHei" pitchFamily="34" charset="-120"/>
              </a:rPr>
              <a:t>实施方法</a:t>
            </a:r>
            <a:endParaRPr lang="en-US" sz="2200" dirty="0"/>
          </a:p>
        </p:txBody>
      </p:sp>
      <p:sp>
        <p:nvSpPr>
          <p:cNvPr id="8" name="Text 6"/>
          <p:cNvSpPr/>
          <p:nvPr/>
        </p:nvSpPr>
        <p:spPr>
          <a:xfrm>
            <a:off x="2286000" y="2926080"/>
            <a:ext cx="548640" cy="457200"/>
          </a:xfrm>
          <a:prstGeom prst="rect">
            <a:avLst/>
          </a:prstGeom>
          <a:noFill/>
          <a:ln/>
        </p:spPr>
        <p:txBody>
          <a:bodyPr wrap="square" rtlCol="0" anchor="ctr"/>
          <a:lstStyle/>
          <a:p>
            <a:pPr algn="ctr" indent="0" marL="0">
              <a:buNone/>
            </a:pPr>
            <a:r>
              <a:rPr lang="en-US" sz="2000" b="1" dirty="0">
                <a:solidFill>
                  <a:srgbClr val="4A90D9"/>
                </a:solidFill>
                <a:latin typeface="Arial" pitchFamily="34" charset="0"/>
                <a:ea typeface="Arial" pitchFamily="34" charset="-122"/>
                <a:cs typeface="Arial" pitchFamily="34" charset="-120"/>
              </a:rPr>
              <a:t>03</a:t>
            </a:r>
            <a:endParaRPr lang="en-US" sz="2000" dirty="0"/>
          </a:p>
        </p:txBody>
      </p:sp>
      <p:sp>
        <p:nvSpPr>
          <p:cNvPr id="9" name="Text 7"/>
          <p:cNvSpPr/>
          <p:nvPr/>
        </p:nvSpPr>
        <p:spPr>
          <a:xfrm>
            <a:off x="2926080" y="2926080"/>
            <a:ext cx="3657600" cy="457200"/>
          </a:xfrm>
          <a:prstGeom prst="rect">
            <a:avLst/>
          </a:prstGeom>
          <a:noFill/>
          <a:ln/>
        </p:spPr>
        <p:txBody>
          <a:bodyPr wrap="square" rtlCol="0" anchor="ctr"/>
          <a:lstStyle/>
          <a:p>
            <a:pPr indent="0" marL="0">
              <a:buNone/>
            </a:pPr>
            <a:r>
              <a:rPr lang="en-US" sz="2200" dirty="0">
                <a:solidFill>
                  <a:srgbClr val="333333"/>
                </a:solidFill>
                <a:latin typeface="Microsoft YaHei" pitchFamily="34" charset="0"/>
                <a:ea typeface="Microsoft YaHei" pitchFamily="34" charset="-122"/>
                <a:cs typeface="Microsoft YaHei" pitchFamily="34" charset="-120"/>
              </a:rPr>
              <a:t>效果对比</a:t>
            </a:r>
            <a:endParaRPr lang="en-US" sz="2200" dirty="0"/>
          </a:p>
        </p:txBody>
      </p:sp>
      <p:sp>
        <p:nvSpPr>
          <p:cNvPr id="10" name="Text 8"/>
          <p:cNvSpPr/>
          <p:nvPr/>
        </p:nvSpPr>
        <p:spPr>
          <a:xfrm>
            <a:off x="2286000" y="3566160"/>
            <a:ext cx="548640" cy="457200"/>
          </a:xfrm>
          <a:prstGeom prst="rect">
            <a:avLst/>
          </a:prstGeom>
          <a:noFill/>
          <a:ln/>
        </p:spPr>
        <p:txBody>
          <a:bodyPr wrap="square" rtlCol="0" anchor="ctr"/>
          <a:lstStyle/>
          <a:p>
            <a:pPr algn="ctr" indent="0" marL="0">
              <a:buNone/>
            </a:pPr>
            <a:r>
              <a:rPr lang="en-US" sz="2000" b="1" dirty="0">
                <a:solidFill>
                  <a:srgbClr val="4A90D9"/>
                </a:solidFill>
                <a:latin typeface="Arial" pitchFamily="34" charset="0"/>
                <a:ea typeface="Arial" pitchFamily="34" charset="-122"/>
                <a:cs typeface="Arial" pitchFamily="34" charset="-120"/>
              </a:rPr>
              <a:t>04</a:t>
            </a:r>
            <a:endParaRPr lang="en-US" sz="2000" dirty="0"/>
          </a:p>
        </p:txBody>
      </p:sp>
      <p:sp>
        <p:nvSpPr>
          <p:cNvPr id="11" name="Text 9"/>
          <p:cNvSpPr/>
          <p:nvPr/>
        </p:nvSpPr>
        <p:spPr>
          <a:xfrm>
            <a:off x="2926080" y="3566160"/>
            <a:ext cx="3657600" cy="457200"/>
          </a:xfrm>
          <a:prstGeom prst="rect">
            <a:avLst/>
          </a:prstGeom>
          <a:noFill/>
          <a:ln/>
        </p:spPr>
        <p:txBody>
          <a:bodyPr wrap="square" rtlCol="0" anchor="ctr"/>
          <a:lstStyle/>
          <a:p>
            <a:pPr indent="0" marL="0">
              <a:buNone/>
            </a:pPr>
            <a:r>
              <a:rPr lang="en-US" sz="2200" dirty="0">
                <a:solidFill>
                  <a:srgbClr val="333333"/>
                </a:solidFill>
                <a:latin typeface="Microsoft YaHei" pitchFamily="34" charset="0"/>
                <a:ea typeface="Microsoft YaHei" pitchFamily="34" charset="-122"/>
                <a:cs typeface="Microsoft YaHei" pitchFamily="34" charset="-120"/>
              </a:rPr>
              <a:t>综合应用效益</a:t>
            </a:r>
            <a:endParaRPr lang="en-US" sz="2200" dirty="0"/>
          </a:p>
        </p:txBody>
      </p:sp>
      <p:sp>
        <p:nvSpPr>
          <p:cNvPr id="12" name="Text 10"/>
          <p:cNvSpPr/>
          <p:nvPr/>
        </p:nvSpPr>
        <p:spPr>
          <a:xfrm>
            <a:off x="8412480" y="4754880"/>
            <a:ext cx="457200" cy="274320"/>
          </a:xfrm>
          <a:prstGeom prst="rect">
            <a:avLst/>
          </a:prstGeom>
          <a:noFill/>
          <a:ln/>
        </p:spPr>
        <p:txBody>
          <a:bodyPr wrap="square" rtlCol="0" anchor="ctr"/>
          <a:lstStyle/>
          <a:p>
            <a:pPr algn="r" indent="0" marL="0">
              <a:buNone/>
            </a:pPr>
            <a:r>
              <a:rPr lang="en-US" sz="1200" dirty="0">
                <a:solidFill>
                  <a:srgbClr val="4A90D9"/>
                </a:solidFill>
                <a:latin typeface="Arial" pitchFamily="34" charset="0"/>
                <a:ea typeface="Arial" pitchFamily="34" charset="-122"/>
                <a:cs typeface="Arial"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1E3A5F"/>
          </a:solidFill>
          <a:ln/>
        </p:spPr>
      </p:sp>
      <p:sp>
        <p:nvSpPr>
          <p:cNvPr id="3" name="Text 1"/>
          <p:cNvSpPr/>
          <p:nvPr/>
        </p:nvSpPr>
        <p:spPr>
          <a:xfrm>
            <a:off x="457200" y="365760"/>
            <a:ext cx="8229600" cy="457200"/>
          </a:xfrm>
          <a:prstGeom prst="rect">
            <a:avLst/>
          </a:prstGeom>
          <a:noFill/>
          <a:ln/>
        </p:spPr>
        <p:txBody>
          <a:bodyPr wrap="square" rtlCol="0" anchor="ctr"/>
          <a:lstStyle/>
          <a:p>
            <a:pPr indent="0" marL="0">
              <a:buNone/>
            </a:pPr>
            <a:r>
              <a:rPr lang="en-US" sz="2600" b="1" dirty="0">
                <a:solidFill>
                  <a:srgbClr val="1E3A5F"/>
                </a:solidFill>
                <a:latin typeface="Microsoft YaHei" pitchFamily="34" charset="0"/>
                <a:ea typeface="Microsoft YaHei" pitchFamily="34" charset="-122"/>
                <a:cs typeface="Microsoft YaHei" pitchFamily="34" charset="-120"/>
              </a:rPr>
              <a:t>概述</a:t>
            </a:r>
            <a:endParaRPr lang="en-US" sz="2600" dirty="0"/>
          </a:p>
        </p:txBody>
      </p:sp>
      <p:sp>
        <p:nvSpPr>
          <p:cNvPr id="4" name="Text 2"/>
          <p:cNvSpPr/>
          <p:nvPr/>
        </p:nvSpPr>
        <p:spPr>
          <a:xfrm>
            <a:off x="457200" y="914400"/>
            <a:ext cx="8229600" cy="365760"/>
          </a:xfrm>
          <a:prstGeom prst="rect">
            <a:avLst/>
          </a:prstGeom>
          <a:noFill/>
          <a:ln/>
        </p:spPr>
        <p:txBody>
          <a:bodyPr wrap="square" rtlCol="0" anchor="ctr"/>
          <a:lstStyle/>
          <a:p>
            <a:pPr indent="0" marL="0">
              <a:buNone/>
            </a:pPr>
            <a:r>
              <a:rPr lang="en-US" sz="1800" b="1" dirty="0">
                <a:solidFill>
                  <a:srgbClr val="333333"/>
                </a:solidFill>
                <a:latin typeface="Microsoft YaHei" pitchFamily="34" charset="0"/>
                <a:ea typeface="Microsoft YaHei" pitchFamily="34" charset="-122"/>
                <a:cs typeface="Microsoft YaHei" pitchFamily="34" charset="-120"/>
              </a:rPr>
              <a:t>业务背景</a:t>
            </a:r>
            <a:endParaRPr lang="en-US" sz="1800" dirty="0"/>
          </a:p>
        </p:txBody>
      </p:sp>
      <p:sp>
        <p:nvSpPr>
          <p:cNvPr id="5" name="Text 3"/>
          <p:cNvSpPr/>
          <p:nvPr/>
        </p:nvSpPr>
        <p:spPr>
          <a:xfrm>
            <a:off x="457200" y="1371600"/>
            <a:ext cx="8229600" cy="548640"/>
          </a:xfrm>
          <a:prstGeom prst="rect">
            <a:avLst/>
          </a:prstGeom>
          <a:noFill/>
          <a:ln/>
        </p:spPr>
        <p:txBody>
          <a:bodyPr wrap="square" rtlCol="0" anchor="ctr"/>
          <a:lstStyle/>
          <a:p>
            <a:pPr indent="0" marL="0">
              <a:buNone/>
            </a:pPr>
            <a:r>
              <a:rPr lang="en-US" sz="1600" dirty="0">
                <a:solidFill>
                  <a:srgbClr val="333333"/>
                </a:solidFill>
                <a:latin typeface="Microsoft YaHei" pitchFamily="34" charset="0"/>
                <a:ea typeface="Microsoft YaHei" pitchFamily="34" charset="-122"/>
                <a:cs typeface="Microsoft YaHei" pitchFamily="34" charset="-120"/>
              </a:rPr>
              <a:t>山洪灾害风险隐患调查与影响分析项目涉及大量空间数据成果审核工作。传统人工审核模式无法适配大规模、标准化、高效率需求。</a:t>
            </a:r>
            <a:endParaRPr lang="en-US" sz="1600" dirty="0"/>
          </a:p>
        </p:txBody>
      </p:sp>
      <p:sp>
        <p:nvSpPr>
          <p:cNvPr id="6" name="Text 4"/>
          <p:cNvSpPr/>
          <p:nvPr/>
        </p:nvSpPr>
        <p:spPr>
          <a:xfrm>
            <a:off x="457200" y="2011680"/>
            <a:ext cx="8229600" cy="457200"/>
          </a:xfrm>
          <a:prstGeom prst="rect">
            <a:avLst/>
          </a:prstGeom>
          <a:noFill/>
          <a:ln/>
        </p:spPr>
        <p:txBody>
          <a:bodyPr wrap="square" rtlCol="0" anchor="ctr"/>
          <a:lstStyle/>
          <a:p>
            <a:pPr indent="0" marL="0">
              <a:buNone/>
            </a:pPr>
            <a:r>
              <a:rPr lang="en-US" sz="1600" b="1" dirty="0">
                <a:solidFill>
                  <a:srgbClr val="4A90D9"/>
                </a:solidFill>
                <a:latin typeface="Microsoft YaHei" pitchFamily="34" charset="0"/>
                <a:ea typeface="Microsoft YaHei" pitchFamily="34" charset="-122"/>
                <a:cs typeface="Microsoft YaHei" pitchFamily="34" charset="-120"/>
              </a:rPr>
              <a:t>本工具将AI自动化技术与水利空间数据审核业务深度融合，破解传统业务瓶颈。</a:t>
            </a:r>
            <a:endParaRPr lang="en-US" sz="1600" dirty="0"/>
          </a:p>
        </p:txBody>
      </p:sp>
      <p:sp>
        <p:nvSpPr>
          <p:cNvPr id="7" name="Text 5"/>
          <p:cNvSpPr/>
          <p:nvPr/>
        </p:nvSpPr>
        <p:spPr>
          <a:xfrm>
            <a:off x="8412480" y="4754880"/>
            <a:ext cx="457200" cy="274320"/>
          </a:xfrm>
          <a:prstGeom prst="rect">
            <a:avLst/>
          </a:prstGeom>
          <a:noFill/>
          <a:ln/>
        </p:spPr>
        <p:txBody>
          <a:bodyPr wrap="square" rtlCol="0" anchor="ctr"/>
          <a:lstStyle/>
          <a:p>
            <a:pPr algn="r" indent="0" marL="0">
              <a:buNone/>
            </a:pPr>
            <a:r>
              <a:rPr lang="en-US" sz="1200" dirty="0">
                <a:solidFill>
                  <a:srgbClr val="4A90D9"/>
                </a:solidFill>
                <a:latin typeface="Arial" pitchFamily="34" charset="0"/>
                <a:ea typeface="Arial" pitchFamily="34" charset="-122"/>
                <a:cs typeface="Arial"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1E3A5F"/>
          </a:solidFill>
          <a:ln/>
        </p:spPr>
      </p:sp>
      <p:sp>
        <p:nvSpPr>
          <p:cNvPr id="3" name="Text 1"/>
          <p:cNvSpPr/>
          <p:nvPr/>
        </p:nvSpPr>
        <p:spPr>
          <a:xfrm>
            <a:off x="457200" y="365760"/>
            <a:ext cx="8229600" cy="457200"/>
          </a:xfrm>
          <a:prstGeom prst="rect">
            <a:avLst/>
          </a:prstGeom>
          <a:noFill/>
          <a:ln/>
        </p:spPr>
        <p:txBody>
          <a:bodyPr wrap="square" rtlCol="0" anchor="ctr"/>
          <a:lstStyle/>
          <a:p>
            <a:pPr indent="0" marL="0">
              <a:buNone/>
            </a:pPr>
            <a:r>
              <a:rPr lang="en-US" sz="2600" b="1" dirty="0">
                <a:solidFill>
                  <a:srgbClr val="1E3A5F"/>
                </a:solidFill>
                <a:latin typeface="Microsoft YaHei" pitchFamily="34" charset="0"/>
                <a:ea typeface="Microsoft YaHei" pitchFamily="34" charset="-122"/>
                <a:cs typeface="Microsoft YaHei" pitchFamily="34" charset="-120"/>
              </a:rPr>
              <a:t>核心业务痛点</a:t>
            </a:r>
            <a:endParaRPr lang="en-US" sz="2600" dirty="0"/>
          </a:p>
        </p:txBody>
      </p:sp>
      <p:sp>
        <p:nvSpPr>
          <p:cNvPr id="4" name="Text 2"/>
          <p:cNvSpPr/>
          <p:nvPr/>
        </p:nvSpPr>
        <p:spPr>
          <a:xfrm>
            <a:off x="457200" y="914400"/>
            <a:ext cx="365760" cy="365760"/>
          </a:xfrm>
          <a:prstGeom prst="rect">
            <a:avLst/>
          </a:prstGeom>
          <a:noFill/>
          <a:ln/>
        </p:spPr>
        <p:txBody>
          <a:bodyPr wrap="square" rtlCol="0" anchor="ctr"/>
          <a:lstStyle/>
          <a:p>
            <a:pPr indent="0" marL="0">
              <a:buNone/>
            </a:pPr>
            <a:r>
              <a:rPr lang="en-US" sz="1600" b="1" dirty="0">
                <a:solidFill>
                  <a:srgbClr val="4A90D9"/>
                </a:solidFill>
                <a:latin typeface="Arial" pitchFamily="34" charset="0"/>
                <a:ea typeface="Arial" pitchFamily="34" charset="-122"/>
                <a:cs typeface="Arial" pitchFamily="34" charset="-120"/>
              </a:rPr>
              <a:t>①</a:t>
            </a:r>
            <a:endParaRPr lang="en-US" sz="1600" dirty="0"/>
          </a:p>
        </p:txBody>
      </p:sp>
      <p:sp>
        <p:nvSpPr>
          <p:cNvPr id="5" name="Text 3"/>
          <p:cNvSpPr/>
          <p:nvPr/>
        </p:nvSpPr>
        <p:spPr>
          <a:xfrm>
            <a:off x="914400" y="914400"/>
            <a:ext cx="2286000" cy="365760"/>
          </a:xfrm>
          <a:prstGeom prst="rect">
            <a:avLst/>
          </a:prstGeom>
          <a:noFill/>
          <a:ln/>
        </p:spPr>
        <p:txBody>
          <a:bodyPr wrap="square" rtlCol="0" anchor="ctr"/>
          <a:lstStyle/>
          <a:p>
            <a:pPr indent="0" marL="0">
              <a:buNone/>
            </a:pPr>
            <a:r>
              <a:rPr lang="en-US" sz="1600" b="1" dirty="0">
                <a:solidFill>
                  <a:srgbClr val="1E3A5F"/>
                </a:solidFill>
                <a:latin typeface="Microsoft YaHei" pitchFamily="34" charset="0"/>
                <a:ea typeface="Microsoft YaHei" pitchFamily="34" charset="-122"/>
                <a:cs typeface="Microsoft YaHei" pitchFamily="34" charset="-120"/>
              </a:rPr>
              <a:t>审核效率极低</a:t>
            </a:r>
            <a:endParaRPr lang="en-US" sz="1600" dirty="0"/>
          </a:p>
        </p:txBody>
      </p:sp>
      <p:sp>
        <p:nvSpPr>
          <p:cNvPr id="6" name="Text 4"/>
          <p:cNvSpPr/>
          <p:nvPr/>
        </p:nvSpPr>
        <p:spPr>
          <a:xfrm>
            <a:off x="3200400" y="914400"/>
            <a:ext cx="5486400" cy="365760"/>
          </a:xfrm>
          <a:prstGeom prst="rect">
            <a:avLst/>
          </a:prstGeom>
          <a:noFill/>
          <a:ln/>
        </p:spPr>
        <p:txBody>
          <a:bodyPr wrap="square" rtlCol="0" anchor="ctr"/>
          <a:lstStyle/>
          <a:p>
            <a:pPr indent="0" marL="0">
              <a:buNone/>
            </a:pPr>
            <a:r>
              <a:rPr lang="en-US" sz="1500" dirty="0">
                <a:solidFill>
                  <a:srgbClr val="333333"/>
                </a:solidFill>
                <a:latin typeface="Microsoft YaHei" pitchFamily="34" charset="0"/>
                <a:ea typeface="Microsoft YaHei" pitchFamily="34" charset="-122"/>
                <a:cs typeface="Microsoft YaHei" pitchFamily="34" charset="-120"/>
              </a:rPr>
              <a:t>单流域500条记录需4-6小时检查</a:t>
            </a:r>
            <a:endParaRPr lang="en-US" sz="1500" dirty="0"/>
          </a:p>
        </p:txBody>
      </p:sp>
      <p:sp>
        <p:nvSpPr>
          <p:cNvPr id="7" name="Text 5"/>
          <p:cNvSpPr/>
          <p:nvPr/>
        </p:nvSpPr>
        <p:spPr>
          <a:xfrm>
            <a:off x="457200" y="1600200"/>
            <a:ext cx="365760" cy="365760"/>
          </a:xfrm>
          <a:prstGeom prst="rect">
            <a:avLst/>
          </a:prstGeom>
          <a:noFill/>
          <a:ln/>
        </p:spPr>
        <p:txBody>
          <a:bodyPr wrap="square" rtlCol="0" anchor="ctr"/>
          <a:lstStyle/>
          <a:p>
            <a:pPr indent="0" marL="0">
              <a:buNone/>
            </a:pPr>
            <a:r>
              <a:rPr lang="en-US" sz="1600" b="1" dirty="0">
                <a:solidFill>
                  <a:srgbClr val="4A90D9"/>
                </a:solidFill>
                <a:latin typeface="Arial" pitchFamily="34" charset="0"/>
                <a:ea typeface="Arial" pitchFamily="34" charset="-122"/>
                <a:cs typeface="Arial" pitchFamily="34" charset="-120"/>
              </a:rPr>
              <a:t>②</a:t>
            </a:r>
            <a:endParaRPr lang="en-US" sz="1600" dirty="0"/>
          </a:p>
        </p:txBody>
      </p:sp>
      <p:sp>
        <p:nvSpPr>
          <p:cNvPr id="8" name="Text 6"/>
          <p:cNvSpPr/>
          <p:nvPr/>
        </p:nvSpPr>
        <p:spPr>
          <a:xfrm>
            <a:off x="914400" y="1600200"/>
            <a:ext cx="2286000" cy="365760"/>
          </a:xfrm>
          <a:prstGeom prst="rect">
            <a:avLst/>
          </a:prstGeom>
          <a:noFill/>
          <a:ln/>
        </p:spPr>
        <p:txBody>
          <a:bodyPr wrap="square" rtlCol="0" anchor="ctr"/>
          <a:lstStyle/>
          <a:p>
            <a:pPr indent="0" marL="0">
              <a:buNone/>
            </a:pPr>
            <a:r>
              <a:rPr lang="en-US" sz="1600" b="1" dirty="0">
                <a:solidFill>
                  <a:srgbClr val="1E3A5F"/>
                </a:solidFill>
                <a:latin typeface="Microsoft YaHei" pitchFamily="34" charset="0"/>
                <a:ea typeface="Microsoft YaHei" pitchFamily="34" charset="-122"/>
                <a:cs typeface="Microsoft YaHei" pitchFamily="34" charset="-120"/>
              </a:rPr>
              <a:t>人工核验易遗漏</a:t>
            </a:r>
            <a:endParaRPr lang="en-US" sz="1600" dirty="0"/>
          </a:p>
        </p:txBody>
      </p:sp>
      <p:sp>
        <p:nvSpPr>
          <p:cNvPr id="9" name="Text 7"/>
          <p:cNvSpPr/>
          <p:nvPr/>
        </p:nvSpPr>
        <p:spPr>
          <a:xfrm>
            <a:off x="3200400" y="1600200"/>
            <a:ext cx="5486400" cy="365760"/>
          </a:xfrm>
          <a:prstGeom prst="rect">
            <a:avLst/>
          </a:prstGeom>
          <a:noFill/>
          <a:ln/>
        </p:spPr>
        <p:txBody>
          <a:bodyPr wrap="square" rtlCol="0" anchor="ctr"/>
          <a:lstStyle/>
          <a:p>
            <a:pPr indent="0" marL="0">
              <a:buNone/>
            </a:pPr>
            <a:r>
              <a:rPr lang="en-US" sz="1500" dirty="0">
                <a:solidFill>
                  <a:srgbClr val="333333"/>
                </a:solidFill>
                <a:latin typeface="Microsoft YaHei" pitchFamily="34" charset="0"/>
                <a:ea typeface="Microsoft YaHei" pitchFamily="34" charset="-122"/>
                <a:cs typeface="Microsoft YaHei" pitchFamily="34" charset="-120"/>
              </a:rPr>
              <a:t>问题发现率仅70-80%</a:t>
            </a:r>
            <a:endParaRPr lang="en-US" sz="1500" dirty="0"/>
          </a:p>
        </p:txBody>
      </p:sp>
      <p:sp>
        <p:nvSpPr>
          <p:cNvPr id="10" name="Text 8"/>
          <p:cNvSpPr/>
          <p:nvPr/>
        </p:nvSpPr>
        <p:spPr>
          <a:xfrm>
            <a:off x="457200" y="2286000"/>
            <a:ext cx="365760" cy="365760"/>
          </a:xfrm>
          <a:prstGeom prst="rect">
            <a:avLst/>
          </a:prstGeom>
          <a:noFill/>
          <a:ln/>
        </p:spPr>
        <p:txBody>
          <a:bodyPr wrap="square" rtlCol="0" anchor="ctr"/>
          <a:lstStyle/>
          <a:p>
            <a:pPr indent="0" marL="0">
              <a:buNone/>
            </a:pPr>
            <a:r>
              <a:rPr lang="en-US" sz="1600" b="1" dirty="0">
                <a:solidFill>
                  <a:srgbClr val="4A90D9"/>
                </a:solidFill>
                <a:latin typeface="Arial" pitchFamily="34" charset="0"/>
                <a:ea typeface="Arial" pitchFamily="34" charset="-122"/>
                <a:cs typeface="Arial" pitchFamily="34" charset="-120"/>
              </a:rPr>
              <a:t>③</a:t>
            </a:r>
            <a:endParaRPr lang="en-US" sz="1600" dirty="0"/>
          </a:p>
        </p:txBody>
      </p:sp>
      <p:sp>
        <p:nvSpPr>
          <p:cNvPr id="11" name="Text 9"/>
          <p:cNvSpPr/>
          <p:nvPr/>
        </p:nvSpPr>
        <p:spPr>
          <a:xfrm>
            <a:off x="914400" y="2286000"/>
            <a:ext cx="2286000" cy="365760"/>
          </a:xfrm>
          <a:prstGeom prst="rect">
            <a:avLst/>
          </a:prstGeom>
          <a:noFill/>
          <a:ln/>
        </p:spPr>
        <p:txBody>
          <a:bodyPr wrap="square" rtlCol="0" anchor="ctr"/>
          <a:lstStyle/>
          <a:p>
            <a:pPr indent="0" marL="0">
              <a:buNone/>
            </a:pPr>
            <a:r>
              <a:rPr lang="en-US" sz="1600" b="1" dirty="0">
                <a:solidFill>
                  <a:srgbClr val="1E3A5F"/>
                </a:solidFill>
                <a:latin typeface="Microsoft YaHei" pitchFamily="34" charset="0"/>
                <a:ea typeface="Microsoft YaHei" pitchFamily="34" charset="-122"/>
                <a:cs typeface="Microsoft YaHei" pitchFamily="34" charset="-120"/>
              </a:rPr>
              <a:t>审核标准不统一</a:t>
            </a:r>
            <a:endParaRPr lang="en-US" sz="1600" dirty="0"/>
          </a:p>
        </p:txBody>
      </p:sp>
      <p:sp>
        <p:nvSpPr>
          <p:cNvPr id="12" name="Text 10"/>
          <p:cNvSpPr/>
          <p:nvPr/>
        </p:nvSpPr>
        <p:spPr>
          <a:xfrm>
            <a:off x="3200400" y="2286000"/>
            <a:ext cx="5486400" cy="365760"/>
          </a:xfrm>
          <a:prstGeom prst="rect">
            <a:avLst/>
          </a:prstGeom>
          <a:noFill/>
          <a:ln/>
        </p:spPr>
        <p:txBody>
          <a:bodyPr wrap="square" rtlCol="0" anchor="ctr"/>
          <a:lstStyle/>
          <a:p>
            <a:pPr indent="0" marL="0">
              <a:buNone/>
            </a:pPr>
            <a:r>
              <a:rPr lang="en-US" sz="1500" dirty="0">
                <a:solidFill>
                  <a:srgbClr val="333333"/>
                </a:solidFill>
                <a:latin typeface="Microsoft YaHei" pitchFamily="34" charset="0"/>
                <a:ea typeface="Microsoft YaHei" pitchFamily="34" charset="-122"/>
                <a:cs typeface="Microsoft YaHei" pitchFamily="34" charset="-120"/>
              </a:rPr>
              <a:t>不同区县核验尺度存在差异</a:t>
            </a:r>
            <a:endParaRPr lang="en-US" sz="1500" dirty="0"/>
          </a:p>
        </p:txBody>
      </p:sp>
      <p:sp>
        <p:nvSpPr>
          <p:cNvPr id="13" name="Text 11"/>
          <p:cNvSpPr/>
          <p:nvPr/>
        </p:nvSpPr>
        <p:spPr>
          <a:xfrm>
            <a:off x="457200" y="2971800"/>
            <a:ext cx="365760" cy="365760"/>
          </a:xfrm>
          <a:prstGeom prst="rect">
            <a:avLst/>
          </a:prstGeom>
          <a:noFill/>
          <a:ln/>
        </p:spPr>
        <p:txBody>
          <a:bodyPr wrap="square" rtlCol="0" anchor="ctr"/>
          <a:lstStyle/>
          <a:p>
            <a:pPr indent="0" marL="0">
              <a:buNone/>
            </a:pPr>
            <a:r>
              <a:rPr lang="en-US" sz="1600" b="1" dirty="0">
                <a:solidFill>
                  <a:srgbClr val="4A90D9"/>
                </a:solidFill>
                <a:latin typeface="Arial" pitchFamily="34" charset="0"/>
                <a:ea typeface="Arial" pitchFamily="34" charset="-122"/>
                <a:cs typeface="Arial" pitchFamily="34" charset="-120"/>
              </a:rPr>
              <a:t>④</a:t>
            </a:r>
            <a:endParaRPr lang="en-US" sz="1600" dirty="0"/>
          </a:p>
        </p:txBody>
      </p:sp>
      <p:sp>
        <p:nvSpPr>
          <p:cNvPr id="14" name="Text 12"/>
          <p:cNvSpPr/>
          <p:nvPr/>
        </p:nvSpPr>
        <p:spPr>
          <a:xfrm>
            <a:off x="914400" y="2971800"/>
            <a:ext cx="2286000" cy="365760"/>
          </a:xfrm>
          <a:prstGeom prst="rect">
            <a:avLst/>
          </a:prstGeom>
          <a:noFill/>
          <a:ln/>
        </p:spPr>
        <p:txBody>
          <a:bodyPr wrap="square" rtlCol="0" anchor="ctr"/>
          <a:lstStyle/>
          <a:p>
            <a:pPr indent="0" marL="0">
              <a:buNone/>
            </a:pPr>
            <a:r>
              <a:rPr lang="en-US" sz="1600" b="1" dirty="0">
                <a:solidFill>
                  <a:srgbClr val="1E3A5F"/>
                </a:solidFill>
                <a:latin typeface="Microsoft YaHei" pitchFamily="34" charset="0"/>
                <a:ea typeface="Microsoft YaHei" pitchFamily="34" charset="-122"/>
                <a:cs typeface="Microsoft YaHei" pitchFamily="34" charset="-120"/>
              </a:rPr>
              <a:t>数据质量无法量化</a:t>
            </a:r>
            <a:endParaRPr lang="en-US" sz="1600" dirty="0"/>
          </a:p>
        </p:txBody>
      </p:sp>
      <p:sp>
        <p:nvSpPr>
          <p:cNvPr id="15" name="Text 13"/>
          <p:cNvSpPr/>
          <p:nvPr/>
        </p:nvSpPr>
        <p:spPr>
          <a:xfrm>
            <a:off x="3200400" y="2971800"/>
            <a:ext cx="5486400" cy="365760"/>
          </a:xfrm>
          <a:prstGeom prst="rect">
            <a:avLst/>
          </a:prstGeom>
          <a:noFill/>
          <a:ln/>
        </p:spPr>
        <p:txBody>
          <a:bodyPr wrap="square" rtlCol="0" anchor="ctr"/>
          <a:lstStyle/>
          <a:p>
            <a:pPr indent="0" marL="0">
              <a:buNone/>
            </a:pPr>
            <a:r>
              <a:rPr lang="en-US" sz="1500" dirty="0">
                <a:solidFill>
                  <a:srgbClr val="333333"/>
                </a:solidFill>
                <a:latin typeface="Microsoft YaHei" pitchFamily="34" charset="0"/>
                <a:ea typeface="Microsoft YaHei" pitchFamily="34" charset="-122"/>
                <a:cs typeface="Microsoft YaHei" pitchFamily="34" charset="-120"/>
              </a:rPr>
              <a:t>省级验收缺乏客观支撑</a:t>
            </a:r>
            <a:endParaRPr lang="en-US" sz="1500" dirty="0"/>
          </a:p>
        </p:txBody>
      </p:sp>
      <p:sp>
        <p:nvSpPr>
          <p:cNvPr id="16" name="Text 14"/>
          <p:cNvSpPr/>
          <p:nvPr/>
        </p:nvSpPr>
        <p:spPr>
          <a:xfrm>
            <a:off x="457200" y="3657600"/>
            <a:ext cx="365760" cy="365760"/>
          </a:xfrm>
          <a:prstGeom prst="rect">
            <a:avLst/>
          </a:prstGeom>
          <a:noFill/>
          <a:ln/>
        </p:spPr>
        <p:txBody>
          <a:bodyPr wrap="square" rtlCol="0" anchor="ctr"/>
          <a:lstStyle/>
          <a:p>
            <a:pPr indent="0" marL="0">
              <a:buNone/>
            </a:pPr>
            <a:r>
              <a:rPr lang="en-US" sz="1600" b="1" dirty="0">
                <a:solidFill>
                  <a:srgbClr val="4A90D9"/>
                </a:solidFill>
                <a:latin typeface="Arial" pitchFamily="34" charset="0"/>
                <a:ea typeface="Arial" pitchFamily="34" charset="-122"/>
                <a:cs typeface="Arial" pitchFamily="34" charset="-120"/>
              </a:rPr>
              <a:t>⑤</a:t>
            </a:r>
            <a:endParaRPr lang="en-US" sz="1600" dirty="0"/>
          </a:p>
        </p:txBody>
      </p:sp>
      <p:sp>
        <p:nvSpPr>
          <p:cNvPr id="17" name="Text 15"/>
          <p:cNvSpPr/>
          <p:nvPr/>
        </p:nvSpPr>
        <p:spPr>
          <a:xfrm>
            <a:off x="914400" y="3657600"/>
            <a:ext cx="2286000" cy="365760"/>
          </a:xfrm>
          <a:prstGeom prst="rect">
            <a:avLst/>
          </a:prstGeom>
          <a:noFill/>
          <a:ln/>
        </p:spPr>
        <p:txBody>
          <a:bodyPr wrap="square" rtlCol="0" anchor="ctr"/>
          <a:lstStyle/>
          <a:p>
            <a:pPr indent="0" marL="0">
              <a:buNone/>
            </a:pPr>
            <a:r>
              <a:rPr lang="en-US" sz="1600" b="1" dirty="0">
                <a:solidFill>
                  <a:srgbClr val="1E3A5F"/>
                </a:solidFill>
                <a:latin typeface="Microsoft YaHei" pitchFamily="34" charset="0"/>
                <a:ea typeface="Microsoft YaHei" pitchFamily="34" charset="-122"/>
                <a:cs typeface="Microsoft YaHei" pitchFamily="34" charset="-120"/>
              </a:rPr>
              <a:t>重复性工作繁重</a:t>
            </a:r>
            <a:endParaRPr lang="en-US" sz="1600" dirty="0"/>
          </a:p>
        </p:txBody>
      </p:sp>
      <p:sp>
        <p:nvSpPr>
          <p:cNvPr id="18" name="Text 16"/>
          <p:cNvSpPr/>
          <p:nvPr/>
        </p:nvSpPr>
        <p:spPr>
          <a:xfrm>
            <a:off x="3200400" y="3657600"/>
            <a:ext cx="5486400" cy="365760"/>
          </a:xfrm>
          <a:prstGeom prst="rect">
            <a:avLst/>
          </a:prstGeom>
          <a:noFill/>
          <a:ln/>
        </p:spPr>
        <p:txBody>
          <a:bodyPr wrap="square" rtlCol="0" anchor="ctr"/>
          <a:lstStyle/>
          <a:p>
            <a:pPr indent="0" marL="0">
              <a:buNone/>
            </a:pPr>
            <a:r>
              <a:rPr lang="en-US" sz="1500" dirty="0">
                <a:solidFill>
                  <a:srgbClr val="333333"/>
                </a:solidFill>
                <a:latin typeface="Microsoft YaHei" pitchFamily="34" charset="0"/>
                <a:ea typeface="Microsoft YaHei" pitchFamily="34" charset="-122"/>
                <a:cs typeface="Microsoft YaHei" pitchFamily="34" charset="-120"/>
              </a:rPr>
              <a:t>机械工作占用核心业务时间</a:t>
            </a:r>
            <a:endParaRPr lang="en-US" sz="1500" dirty="0"/>
          </a:p>
        </p:txBody>
      </p:sp>
      <p:sp>
        <p:nvSpPr>
          <p:cNvPr id="19" name="Text 17"/>
          <p:cNvSpPr/>
          <p:nvPr/>
        </p:nvSpPr>
        <p:spPr>
          <a:xfrm>
            <a:off x="8412480" y="4754880"/>
            <a:ext cx="457200" cy="274320"/>
          </a:xfrm>
          <a:prstGeom prst="rect">
            <a:avLst/>
          </a:prstGeom>
          <a:noFill/>
          <a:ln/>
        </p:spPr>
        <p:txBody>
          <a:bodyPr wrap="square" rtlCol="0" anchor="ctr"/>
          <a:lstStyle/>
          <a:p>
            <a:pPr algn="r" indent="0" marL="0">
              <a:buNone/>
            </a:pPr>
            <a:r>
              <a:rPr lang="en-US" sz="1200" dirty="0">
                <a:solidFill>
                  <a:srgbClr val="4A90D9"/>
                </a:solidFill>
                <a:latin typeface="Arial" pitchFamily="34" charset="0"/>
                <a:ea typeface="Arial" pitchFamily="34" charset="-122"/>
                <a:cs typeface="Arial"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1E3A5F"/>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1E3A5F"/>
                </a:solidFill>
                <a:latin typeface="Microsoft YaHei" pitchFamily="34" charset="0"/>
                <a:ea typeface="Microsoft YaHei" pitchFamily="34" charset="-122"/>
                <a:cs typeface="Microsoft YaHei" pitchFamily="34" charset="-120"/>
              </a:rPr>
              <a:t>适用范围与目标用户</a:t>
            </a:r>
            <a:endParaRPr lang="en-US" sz="2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274320" y="914400"/>
          <a:ext cx="8595360" cy="1645920"/>
        </p:xfrm>
        <a:graphic>
          <a:graphicData uri="http://schemas.openxmlformats.org/drawingml/2006/table">
            <a:tbl>
              <a:tblPr/>
              <a:tblGrid>
                <a:gridCol w="2286000"/>
                <a:gridCol w="3840480"/>
                <a:gridCol w="2468880"/>
              </a:tblGrid>
              <a:tr h="329184">
                <a:tc>
                  <a:txBody>
                    <a:bodyPr/>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场景类型</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solidFill>
                      <a:srgbClr val="1E3A5F"/>
                    </a:solidFill>
                  </a:tcPr>
                </a:tc>
                <a:tc>
                  <a:txBody>
                    <a:bodyPr/>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具体描述</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solidFill>
                      <a:srgbClr val="1E3A5F"/>
                    </a:solidFill>
                  </a:tcPr>
                </a:tc>
                <a:tc>
                  <a:txBody>
                    <a:bodyPr/>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核心价值</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solidFill>
                      <a:srgbClr val="1E3A5F"/>
                    </a:solidFill>
                  </a:tcPr>
                </a:tc>
              </a:tr>
              <a:tr h="329184">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成果验收审核</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区县级成果提交省级验收前质量检查</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提前发现问题，减少返工</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r>
              <a:tr h="329184">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数据质量评估</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空间数据完整性、一致性评估</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量化质量指标，客观评价</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r>
              <a:tr h="329184">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日常数据检查</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项目实施过程中数据把控</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及时发现并纠正问题</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r>
              <a:tr h="329184">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成果规范化处理</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统一SHP命名和字段格式</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便于成果归档和共享</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r>
            </a:tbl>
          </a:graphicData>
        </a:graphic>
      </p:graphicFrame>
      <p:sp>
        <p:nvSpPr>
          <p:cNvPr id="5" name="Text 2"/>
          <p:cNvSpPr/>
          <p:nvPr/>
        </p:nvSpPr>
        <p:spPr>
          <a:xfrm>
            <a:off x="457200" y="2743200"/>
            <a:ext cx="8229600" cy="365760"/>
          </a:xfrm>
          <a:prstGeom prst="rect">
            <a:avLst/>
          </a:prstGeom>
          <a:noFill/>
          <a:ln/>
        </p:spPr>
        <p:txBody>
          <a:bodyPr wrap="square" rtlCol="0" anchor="ctr"/>
          <a:lstStyle/>
          <a:p>
            <a:pPr indent="0" marL="0">
              <a:buNone/>
            </a:pPr>
            <a:r>
              <a:rPr lang="en-US" sz="1800" b="1" dirty="0">
                <a:solidFill>
                  <a:srgbClr val="1E3A5F"/>
                </a:solidFill>
                <a:latin typeface="Microsoft YaHei" pitchFamily="34" charset="0"/>
                <a:ea typeface="Microsoft YaHei" pitchFamily="34" charset="-122"/>
                <a:cs typeface="Microsoft YaHei" pitchFamily="34" charset="-120"/>
              </a:rPr>
              <a:t>目标用户</a:t>
            </a:r>
            <a:endParaRPr lang="en-US" sz="1800" dirty="0"/>
          </a:p>
        </p:txBody>
      </p:sp>
      <p:sp>
        <p:nvSpPr>
          <p:cNvPr id="6" name="Text 3"/>
          <p:cNvSpPr/>
          <p:nvPr/>
        </p:nvSpPr>
        <p:spPr>
          <a:xfrm>
            <a:off x="457200" y="3200400"/>
            <a:ext cx="8229600" cy="320040"/>
          </a:xfrm>
          <a:prstGeom prst="rect">
            <a:avLst/>
          </a:prstGeom>
          <a:noFill/>
          <a:ln/>
        </p:spPr>
        <p:txBody>
          <a:bodyPr wrap="square" rtlCol="0" anchor="ctr"/>
          <a:lstStyle/>
          <a:p>
            <a:pPr indent="0" marL="0">
              <a:buNone/>
            </a:pPr>
            <a:r>
              <a:rPr lang="en-US" sz="1400" dirty="0">
                <a:solidFill>
                  <a:srgbClr val="333333"/>
                </a:solidFill>
                <a:latin typeface="Microsoft YaHei" pitchFamily="34" charset="0"/>
                <a:ea typeface="Microsoft YaHei" pitchFamily="34" charset="-122"/>
                <a:cs typeface="Microsoft YaHei" pitchFamily="34" charset="-120"/>
              </a:rPr>
              <a:t>• 水利山洪灾害管理部门审核人员</a:t>
            </a:r>
            <a:endParaRPr lang="en-US" sz="1400" dirty="0"/>
          </a:p>
        </p:txBody>
      </p:sp>
      <p:sp>
        <p:nvSpPr>
          <p:cNvPr id="7" name="Text 4"/>
          <p:cNvSpPr/>
          <p:nvPr/>
        </p:nvSpPr>
        <p:spPr>
          <a:xfrm>
            <a:off x="457200" y="3566160"/>
            <a:ext cx="8229600" cy="320040"/>
          </a:xfrm>
          <a:prstGeom prst="rect">
            <a:avLst/>
          </a:prstGeom>
          <a:noFill/>
          <a:ln/>
        </p:spPr>
        <p:txBody>
          <a:bodyPr wrap="square" rtlCol="0" anchor="ctr"/>
          <a:lstStyle/>
          <a:p>
            <a:pPr indent="0" marL="0">
              <a:buNone/>
            </a:pPr>
            <a:r>
              <a:rPr lang="en-US" sz="1400" dirty="0">
                <a:solidFill>
                  <a:srgbClr val="333333"/>
                </a:solidFill>
                <a:latin typeface="Microsoft YaHei" pitchFamily="34" charset="0"/>
                <a:ea typeface="Microsoft YaHei" pitchFamily="34" charset="-122"/>
                <a:cs typeface="Microsoft YaHei" pitchFamily="34" charset="-120"/>
              </a:rPr>
              <a:t>• 区县级调查成果审核工作人员</a:t>
            </a:r>
            <a:endParaRPr lang="en-US" sz="1400" dirty="0"/>
          </a:p>
        </p:txBody>
      </p:sp>
      <p:sp>
        <p:nvSpPr>
          <p:cNvPr id="8" name="Text 5"/>
          <p:cNvSpPr/>
          <p:nvPr/>
        </p:nvSpPr>
        <p:spPr>
          <a:xfrm>
            <a:off x="457200" y="3931920"/>
            <a:ext cx="8229600" cy="320040"/>
          </a:xfrm>
          <a:prstGeom prst="rect">
            <a:avLst/>
          </a:prstGeom>
          <a:noFill/>
          <a:ln/>
        </p:spPr>
        <p:txBody>
          <a:bodyPr wrap="square" rtlCol="0" anchor="ctr"/>
          <a:lstStyle/>
          <a:p>
            <a:pPr indent="0" marL="0">
              <a:buNone/>
            </a:pPr>
            <a:r>
              <a:rPr lang="en-US" sz="1400" dirty="0">
                <a:solidFill>
                  <a:srgbClr val="333333"/>
                </a:solidFill>
                <a:latin typeface="Microsoft YaHei" pitchFamily="34" charset="0"/>
                <a:ea typeface="Microsoft YaHei" pitchFamily="34" charset="-122"/>
                <a:cs typeface="Microsoft YaHei" pitchFamily="34" charset="-120"/>
              </a:rPr>
              <a:t>• 空间数据质量控制技术人员</a:t>
            </a:r>
            <a:endParaRPr lang="en-US" sz="1400" dirty="0"/>
          </a:p>
        </p:txBody>
      </p:sp>
      <p:sp>
        <p:nvSpPr>
          <p:cNvPr id="9" name="Text 6"/>
          <p:cNvSpPr/>
          <p:nvPr/>
        </p:nvSpPr>
        <p:spPr>
          <a:xfrm>
            <a:off x="457200" y="4297680"/>
            <a:ext cx="8229600" cy="320040"/>
          </a:xfrm>
          <a:prstGeom prst="rect">
            <a:avLst/>
          </a:prstGeom>
          <a:noFill/>
          <a:ln/>
        </p:spPr>
        <p:txBody>
          <a:bodyPr wrap="square" rtlCol="0" anchor="ctr"/>
          <a:lstStyle/>
          <a:p>
            <a:pPr indent="0" marL="0">
              <a:buNone/>
            </a:pPr>
            <a:r>
              <a:rPr lang="en-US" sz="1400" dirty="0">
                <a:solidFill>
                  <a:srgbClr val="333333"/>
                </a:solidFill>
                <a:latin typeface="Microsoft YaHei" pitchFamily="34" charset="0"/>
                <a:ea typeface="Microsoft YaHei" pitchFamily="34" charset="-122"/>
                <a:cs typeface="Microsoft YaHei" pitchFamily="34" charset="-120"/>
              </a:rPr>
              <a:t>• 项目实施成员</a:t>
            </a:r>
            <a:endParaRPr lang="en-US" sz="1400" dirty="0"/>
          </a:p>
        </p:txBody>
      </p:sp>
      <p:sp>
        <p:nvSpPr>
          <p:cNvPr id="10" name="Text 7"/>
          <p:cNvSpPr/>
          <p:nvPr/>
        </p:nvSpPr>
        <p:spPr>
          <a:xfrm>
            <a:off x="8412480" y="4754880"/>
            <a:ext cx="457200" cy="274320"/>
          </a:xfrm>
          <a:prstGeom prst="rect">
            <a:avLst/>
          </a:prstGeom>
          <a:noFill/>
          <a:ln/>
        </p:spPr>
        <p:txBody>
          <a:bodyPr wrap="square" rtlCol="0" anchor="ctr"/>
          <a:lstStyle/>
          <a:p>
            <a:pPr algn="r" indent="0" marL="0">
              <a:buNone/>
            </a:pPr>
            <a:r>
              <a:rPr lang="en-US" sz="1200" dirty="0">
                <a:solidFill>
                  <a:srgbClr val="4A90D9"/>
                </a:solidFill>
                <a:latin typeface="Arial" pitchFamily="34" charset="0"/>
                <a:ea typeface="Arial" pitchFamily="34" charset="-122"/>
                <a:cs typeface="Arial"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1E3A5F"/>
          </a:solidFill>
          <a:ln/>
        </p:spPr>
      </p:sp>
      <p:sp>
        <p:nvSpPr>
          <p:cNvPr id="3" name="Text 1"/>
          <p:cNvSpPr/>
          <p:nvPr/>
        </p:nvSpPr>
        <p:spPr>
          <a:xfrm>
            <a:off x="457200" y="365760"/>
            <a:ext cx="8229600" cy="457200"/>
          </a:xfrm>
          <a:prstGeom prst="rect">
            <a:avLst/>
          </a:prstGeom>
          <a:noFill/>
          <a:ln/>
        </p:spPr>
        <p:txBody>
          <a:bodyPr wrap="square" rtlCol="0" anchor="ctr"/>
          <a:lstStyle/>
          <a:p>
            <a:pPr indent="0" marL="0">
              <a:buNone/>
            </a:pPr>
            <a:r>
              <a:rPr lang="en-US" sz="2600" b="1" dirty="0">
                <a:solidFill>
                  <a:srgbClr val="1E3A5F"/>
                </a:solidFill>
                <a:latin typeface="Microsoft YaHei" pitchFamily="34" charset="0"/>
                <a:ea typeface="Microsoft YaHei" pitchFamily="34" charset="-122"/>
                <a:cs typeface="Microsoft YaHei" pitchFamily="34" charset="-120"/>
              </a:rPr>
              <a:t>实施方法</a:t>
            </a:r>
            <a:endParaRPr lang="en-US" sz="2600" dirty="0"/>
          </a:p>
        </p:txBody>
      </p:sp>
      <p:sp>
        <p:nvSpPr>
          <p:cNvPr id="4" name="Text 2"/>
          <p:cNvSpPr/>
          <p:nvPr/>
        </p:nvSpPr>
        <p:spPr>
          <a:xfrm>
            <a:off x="457200" y="914400"/>
            <a:ext cx="8229600" cy="365760"/>
          </a:xfrm>
          <a:prstGeom prst="rect">
            <a:avLst/>
          </a:prstGeom>
          <a:noFill/>
          <a:ln/>
        </p:spPr>
        <p:txBody>
          <a:bodyPr wrap="square" rtlCol="0" anchor="ctr"/>
          <a:lstStyle/>
          <a:p>
            <a:pPr indent="0" marL="0">
              <a:buNone/>
            </a:pPr>
            <a:r>
              <a:rPr lang="en-US" sz="1800" b="1" dirty="0">
                <a:solidFill>
                  <a:srgbClr val="333333"/>
                </a:solidFill>
                <a:latin typeface="Microsoft YaHei" pitchFamily="34" charset="0"/>
                <a:ea typeface="Microsoft YaHei" pitchFamily="34" charset="-122"/>
                <a:cs typeface="Microsoft YaHei" pitchFamily="34" charset="-120"/>
              </a:rPr>
              <a:t>环境准备</a:t>
            </a:r>
            <a:endParaRPr lang="en-US" sz="1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274320" y="1371600"/>
          <a:ext cx="8595360" cy="1828800"/>
        </p:xfrm>
        <a:graphic>
          <a:graphicData uri="http://schemas.openxmlformats.org/drawingml/2006/table">
            <a:tbl>
              <a:tblPr/>
              <a:tblGrid>
                <a:gridCol w="1828800"/>
                <a:gridCol w="3657600"/>
                <a:gridCol w="3108960"/>
              </a:tblGrid>
              <a:tr h="365760">
                <a:tc>
                  <a:txBody>
                    <a:bodyPr/>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环境项</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solidFill>
                      <a:srgbClr val="1E3A5F"/>
                    </a:solidFill>
                  </a:tcPr>
                </a:tc>
                <a:tc>
                  <a:txBody>
                    <a:bodyPr/>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要求</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solidFill>
                      <a:srgbClr val="1E3A5F"/>
                    </a:solidFill>
                  </a:tcPr>
                </a:tc>
                <a:tc>
                  <a:txBody>
                    <a:bodyPr/>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说明</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solidFill>
                      <a:srgbClr val="1E3A5F"/>
                    </a:solidFill>
                  </a:tcPr>
                </a:tc>
              </a:tr>
              <a:tr h="365760">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操作系统</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Windows 10/11</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桌面应用程序</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r>
              <a:tr h="365760">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Python环境</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ArcGIS Pro Python 3.x</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SHP格式化功能依赖</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r>
              <a:tr h="365760">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ArcGIS</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ArcGIS Pro 3.x / Desktop 10.8</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空间数据处理引擎</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r>
              <a:tr h="365760">
                <a:tc>
                  <a:txBody>
                    <a:bodyPr/>
                    <a:lstStyle/>
                    <a:p>
                      <a:pPr indent="0" marL="0">
                        <a:buNone/>
                      </a:pPr>
                      <a:r>
                        <a:rPr lang="en-US" sz="1400" b="1" dirty="0">
                          <a:solidFill>
                            <a:srgbClr val="000000"/>
                          </a:solidFill>
                          <a:latin typeface="Microsoft YaHei" pitchFamily="34" charset="0"/>
                          <a:ea typeface="Microsoft YaHei" pitchFamily="34" charset="-122"/>
                          <a:cs typeface="Microsoft YaHei" pitchFamily="34" charset="-120"/>
                        </a:rPr>
                        <a:t>运行时</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c>
                  <a:txBody>
                    <a:bodyPr/>
                    <a:lstStyle/>
                    <a:p>
                      <a:pPr indent="0" marL="0">
                        <a:buNone/>
                      </a:pPr>
                      <a:r>
                        <a:rPr lang="en-US" sz="1400" b="1" dirty="0">
                          <a:solidFill>
                            <a:srgbClr val="4A90D9"/>
                          </a:solidFill>
                          <a:latin typeface="Microsoft YaHei" pitchFamily="34" charset="0"/>
                          <a:ea typeface="Microsoft YaHei" pitchFamily="34" charset="-122"/>
                          <a:cs typeface="Microsoft YaHei" pitchFamily="34" charset="-120"/>
                        </a:rPr>
                        <a:t>无需安装Python</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工具已打包为独立exe</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r>
            </a:tbl>
          </a:graphicData>
        </a:graphic>
      </p:graphicFrame>
      <p:sp>
        <p:nvSpPr>
          <p:cNvPr id="6" name="Text 3"/>
          <p:cNvSpPr/>
          <p:nvPr/>
        </p:nvSpPr>
        <p:spPr>
          <a:xfrm>
            <a:off x="457200" y="3383280"/>
            <a:ext cx="8229600" cy="320040"/>
          </a:xfrm>
          <a:prstGeom prst="rect">
            <a:avLst/>
          </a:prstGeom>
          <a:noFill/>
          <a:ln/>
        </p:spPr>
        <p:txBody>
          <a:bodyPr wrap="square" rtlCol="0" anchor="ctr"/>
          <a:lstStyle/>
          <a:p>
            <a:pPr indent="0" marL="0">
              <a:buNone/>
            </a:pPr>
            <a:r>
              <a:rPr lang="en-US" sz="1600" b="1" dirty="0">
                <a:solidFill>
                  <a:srgbClr val="1E3A5F"/>
                </a:solidFill>
                <a:latin typeface="Microsoft YaHei" pitchFamily="34" charset="0"/>
                <a:ea typeface="Microsoft YaHei" pitchFamily="34" charset="-122"/>
                <a:cs typeface="Microsoft YaHei" pitchFamily="34" charset="-120"/>
              </a:rPr>
              <a:t>数据准备</a:t>
            </a:r>
            <a:endParaRPr lang="en-US" sz="1600" dirty="0"/>
          </a:p>
        </p:txBody>
      </p:sp>
      <p:sp>
        <p:nvSpPr>
          <p:cNvPr id="7" name="Text 4"/>
          <p:cNvSpPr/>
          <p:nvPr/>
        </p:nvSpPr>
        <p:spPr>
          <a:xfrm>
            <a:off x="457200" y="3749040"/>
            <a:ext cx="8229600" cy="822960"/>
          </a:xfrm>
          <a:prstGeom prst="rect">
            <a:avLst/>
          </a:prstGeom>
          <a:noFill/>
          <a:ln/>
        </p:spPr>
        <p:txBody>
          <a:bodyPr wrap="square" rtlCol="0" anchor="ctr"/>
          <a:lstStyle/>
          <a:p>
            <a:pPr indent="0" marL="0">
              <a:buNone/>
            </a:pPr>
            <a:r>
              <a:rPr lang="en-US" sz="1400" dirty="0">
                <a:solidFill>
                  <a:srgbClr val="333333"/>
                </a:solidFill>
                <a:latin typeface="Microsoft YaHei" pitchFamily="34" charset="0"/>
                <a:ea typeface="Microsoft YaHei" pitchFamily="34" charset="-122"/>
                <a:cs typeface="Microsoft YaHei" pitchFamily="34" charset="-120"/>
              </a:rPr>
              <a:t>• 待审核成果文件夹（多个流域/子文件夹）</a:t>
            </a:r>
            <a:endParaRPr lang="en-US" sz="1400" dirty="0"/>
          </a:p>
          <a:p>
            <a:pPr indent="0" marL="0">
              <a:buNone/>
            </a:pPr>
            <a:r>
              <a:rPr lang="en-US" sz="1400" dirty="0">
                <a:solidFill>
                  <a:srgbClr val="333333"/>
                </a:solidFill>
                <a:latin typeface="Microsoft YaHei" pitchFamily="34" charset="0"/>
                <a:ea typeface="Microsoft YaHei" pitchFamily="34" charset="-122"/>
                <a:cs typeface="Microsoft YaHei" pitchFamily="34" charset="-120"/>
              </a:rPr>
              <a:t>• 水系基础数据（SHP格式）</a:t>
            </a:r>
            <a:endParaRPr lang="en-US" sz="1400" dirty="0"/>
          </a:p>
          <a:p>
            <a:pPr indent="0" marL="0">
              <a:buNone/>
            </a:pPr>
            <a:r>
              <a:rPr lang="en-US" sz="1400" dirty="0">
                <a:solidFill>
                  <a:srgbClr val="333333"/>
                </a:solidFill>
                <a:latin typeface="Microsoft YaHei" pitchFamily="34" charset="0"/>
                <a:ea typeface="Microsoft YaHei" pitchFamily="34" charset="-122"/>
                <a:cs typeface="Microsoft YaHei" pitchFamily="34" charset="-120"/>
              </a:rPr>
              <a:t>• 成果报表（附表1、2、3的Excel文件）</a:t>
            </a:r>
            <a:endParaRPr lang="en-US" sz="1400" dirty="0"/>
          </a:p>
        </p:txBody>
      </p:sp>
      <p:sp>
        <p:nvSpPr>
          <p:cNvPr id="8" name="Text 5"/>
          <p:cNvSpPr/>
          <p:nvPr/>
        </p:nvSpPr>
        <p:spPr>
          <a:xfrm>
            <a:off x="8412480" y="4754880"/>
            <a:ext cx="457200" cy="274320"/>
          </a:xfrm>
          <a:prstGeom prst="rect">
            <a:avLst/>
          </a:prstGeom>
          <a:noFill/>
          <a:ln/>
        </p:spPr>
        <p:txBody>
          <a:bodyPr wrap="square" rtlCol="0" anchor="ctr"/>
          <a:lstStyle/>
          <a:p>
            <a:pPr algn="r" indent="0" marL="0">
              <a:buNone/>
            </a:pPr>
            <a:r>
              <a:rPr lang="en-US" sz="1200" dirty="0">
                <a:solidFill>
                  <a:srgbClr val="4A90D9"/>
                </a:solidFill>
                <a:latin typeface="Arial" pitchFamily="34" charset="0"/>
                <a:ea typeface="Arial" pitchFamily="34" charset="-122"/>
                <a:cs typeface="Arial"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1E3A5F"/>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1E3A5F"/>
                </a:solidFill>
                <a:latin typeface="Microsoft YaHei" pitchFamily="34" charset="0"/>
                <a:ea typeface="Microsoft YaHei" pitchFamily="34" charset="-122"/>
                <a:cs typeface="Microsoft YaHei" pitchFamily="34" charset="-120"/>
              </a:rPr>
              <a:t>空间数据检查操作流程</a:t>
            </a:r>
            <a:endParaRPr lang="en-US" sz="2400" dirty="0"/>
          </a:p>
        </p:txBody>
      </p:sp>
      <p:sp>
        <p:nvSpPr>
          <p:cNvPr id="4" name="Shape 2"/>
          <p:cNvSpPr/>
          <p:nvPr/>
        </p:nvSpPr>
        <p:spPr>
          <a:xfrm>
            <a:off x="457200" y="914400"/>
            <a:ext cx="1188720" cy="1188720"/>
          </a:xfrm>
          <a:prstGeom prst="ellipse">
            <a:avLst/>
          </a:prstGeom>
          <a:solidFill>
            <a:srgbClr val="1E3A5F"/>
          </a:solidFill>
          <a:ln/>
        </p:spPr>
      </p:sp>
      <p:sp>
        <p:nvSpPr>
          <p:cNvPr id="5" name="Text 3"/>
          <p:cNvSpPr/>
          <p:nvPr/>
        </p:nvSpPr>
        <p:spPr>
          <a:xfrm>
            <a:off x="457200" y="914400"/>
            <a:ext cx="1188720" cy="548640"/>
          </a:xfrm>
          <a:prstGeom prst="rect">
            <a:avLst/>
          </a:prstGeom>
          <a:noFill/>
          <a:ln/>
        </p:spPr>
        <p:txBody>
          <a:bodyPr wrap="square"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6" name="Text 4"/>
          <p:cNvSpPr/>
          <p:nvPr/>
        </p:nvSpPr>
        <p:spPr>
          <a:xfrm>
            <a:off x="365760" y="1508760"/>
            <a:ext cx="1371600" cy="548640"/>
          </a:xfrm>
          <a:prstGeom prst="rect">
            <a:avLst/>
          </a:prstGeom>
          <a:noFill/>
          <a:ln/>
        </p:spPr>
        <p:txBody>
          <a:bodyPr wrap="square" rtlCol="0" anchor="ctr"/>
          <a:lstStyle/>
          <a:p>
            <a:pPr algn="ctr" indent="0" marL="0">
              <a:buNone/>
            </a:pPr>
            <a:r>
              <a:rPr lang="en-US" sz="1200" dirty="0">
                <a:solidFill>
                  <a:srgbClr val="1E3A5F"/>
                </a:solidFill>
                <a:latin typeface="Microsoft YaHei" pitchFamily="34" charset="0"/>
                <a:ea typeface="Microsoft YaHei" pitchFamily="34" charset="-122"/>
                <a:cs typeface="Microsoft YaHei" pitchFamily="34" charset="-120"/>
              </a:rPr>
              <a:t>启动工具</a:t>
            </a:r>
            <a:endParaRPr lang="en-US" sz="1200" dirty="0"/>
          </a:p>
        </p:txBody>
      </p:sp>
      <p:sp>
        <p:nvSpPr>
          <p:cNvPr id="7" name="Text 5"/>
          <p:cNvSpPr/>
          <p:nvPr/>
        </p:nvSpPr>
        <p:spPr>
          <a:xfrm>
            <a:off x="1737360" y="1188720"/>
            <a:ext cx="182880" cy="365760"/>
          </a:xfrm>
          <a:prstGeom prst="rect">
            <a:avLst/>
          </a:prstGeom>
          <a:noFill/>
          <a:ln/>
        </p:spPr>
        <p:txBody>
          <a:bodyPr wrap="square" rtlCol="0" anchor="ctr"/>
          <a:lstStyle/>
          <a:p>
            <a:pPr algn="ctr" indent="0" marL="0">
              <a:buNone/>
            </a:pPr>
            <a:r>
              <a:rPr lang="en-US" sz="1800" dirty="0">
                <a:solidFill>
                  <a:srgbClr val="4A90D9"/>
                </a:solidFill>
                <a:latin typeface="Arial" pitchFamily="34" charset="0"/>
                <a:ea typeface="Arial" pitchFamily="34" charset="-122"/>
                <a:cs typeface="Arial" pitchFamily="34" charset="-120"/>
              </a:rPr>
              <a:t>→</a:t>
            </a:r>
            <a:endParaRPr lang="en-US" sz="1800" dirty="0"/>
          </a:p>
        </p:txBody>
      </p:sp>
      <p:sp>
        <p:nvSpPr>
          <p:cNvPr id="8" name="Shape 6"/>
          <p:cNvSpPr/>
          <p:nvPr/>
        </p:nvSpPr>
        <p:spPr>
          <a:xfrm>
            <a:off x="1828800" y="914400"/>
            <a:ext cx="1188720" cy="1188720"/>
          </a:xfrm>
          <a:prstGeom prst="ellipse">
            <a:avLst/>
          </a:prstGeom>
          <a:solidFill>
            <a:srgbClr val="1E3A5F"/>
          </a:solidFill>
          <a:ln/>
        </p:spPr>
      </p:sp>
      <p:sp>
        <p:nvSpPr>
          <p:cNvPr id="9" name="Text 7"/>
          <p:cNvSpPr/>
          <p:nvPr/>
        </p:nvSpPr>
        <p:spPr>
          <a:xfrm>
            <a:off x="1828800" y="914400"/>
            <a:ext cx="1188720" cy="548640"/>
          </a:xfrm>
          <a:prstGeom prst="rect">
            <a:avLst/>
          </a:prstGeom>
          <a:noFill/>
          <a:ln/>
        </p:spPr>
        <p:txBody>
          <a:bodyPr wrap="square"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10" name="Text 8"/>
          <p:cNvSpPr/>
          <p:nvPr/>
        </p:nvSpPr>
        <p:spPr>
          <a:xfrm>
            <a:off x="1737360" y="1508760"/>
            <a:ext cx="1371600" cy="548640"/>
          </a:xfrm>
          <a:prstGeom prst="rect">
            <a:avLst/>
          </a:prstGeom>
          <a:noFill/>
          <a:ln/>
        </p:spPr>
        <p:txBody>
          <a:bodyPr wrap="square" rtlCol="0" anchor="ctr"/>
          <a:lstStyle/>
          <a:p>
            <a:pPr algn="ctr" indent="0" marL="0">
              <a:buNone/>
            </a:pPr>
            <a:r>
              <a:rPr lang="en-US" sz="1200" dirty="0">
                <a:solidFill>
                  <a:srgbClr val="1E3A5F"/>
                </a:solidFill>
                <a:latin typeface="Microsoft YaHei" pitchFamily="34" charset="0"/>
                <a:ea typeface="Microsoft YaHei" pitchFamily="34" charset="-122"/>
                <a:cs typeface="Microsoft YaHei" pitchFamily="34" charset="-120"/>
              </a:rPr>
              <a:t>选择目标文件夹</a:t>
            </a:r>
            <a:endParaRPr lang="en-US" sz="1200" dirty="0"/>
          </a:p>
        </p:txBody>
      </p:sp>
      <p:sp>
        <p:nvSpPr>
          <p:cNvPr id="11" name="Text 9"/>
          <p:cNvSpPr/>
          <p:nvPr/>
        </p:nvSpPr>
        <p:spPr>
          <a:xfrm>
            <a:off x="3108960" y="1188720"/>
            <a:ext cx="182880" cy="365760"/>
          </a:xfrm>
          <a:prstGeom prst="rect">
            <a:avLst/>
          </a:prstGeom>
          <a:noFill/>
          <a:ln/>
        </p:spPr>
        <p:txBody>
          <a:bodyPr wrap="square" rtlCol="0" anchor="ctr"/>
          <a:lstStyle/>
          <a:p>
            <a:pPr algn="ctr" indent="0" marL="0">
              <a:buNone/>
            </a:pPr>
            <a:r>
              <a:rPr lang="en-US" sz="1800" dirty="0">
                <a:solidFill>
                  <a:srgbClr val="4A90D9"/>
                </a:solidFill>
                <a:latin typeface="Arial" pitchFamily="34" charset="0"/>
                <a:ea typeface="Arial" pitchFamily="34" charset="-122"/>
                <a:cs typeface="Arial" pitchFamily="34" charset="-120"/>
              </a:rPr>
              <a:t>→</a:t>
            </a:r>
            <a:endParaRPr lang="en-US" sz="1800" dirty="0"/>
          </a:p>
        </p:txBody>
      </p:sp>
      <p:sp>
        <p:nvSpPr>
          <p:cNvPr id="12" name="Shape 10"/>
          <p:cNvSpPr/>
          <p:nvPr/>
        </p:nvSpPr>
        <p:spPr>
          <a:xfrm>
            <a:off x="3200400" y="914400"/>
            <a:ext cx="1188720" cy="1188720"/>
          </a:xfrm>
          <a:prstGeom prst="ellipse">
            <a:avLst/>
          </a:prstGeom>
          <a:solidFill>
            <a:srgbClr val="1E3A5F"/>
          </a:solidFill>
          <a:ln/>
        </p:spPr>
      </p:sp>
      <p:sp>
        <p:nvSpPr>
          <p:cNvPr id="13" name="Text 11"/>
          <p:cNvSpPr/>
          <p:nvPr/>
        </p:nvSpPr>
        <p:spPr>
          <a:xfrm>
            <a:off x="3200400" y="914400"/>
            <a:ext cx="1188720" cy="548640"/>
          </a:xfrm>
          <a:prstGeom prst="rect">
            <a:avLst/>
          </a:prstGeom>
          <a:noFill/>
          <a:ln/>
        </p:spPr>
        <p:txBody>
          <a:bodyPr wrap="square"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14" name="Text 12"/>
          <p:cNvSpPr/>
          <p:nvPr/>
        </p:nvSpPr>
        <p:spPr>
          <a:xfrm>
            <a:off x="3108960" y="1508760"/>
            <a:ext cx="1371600" cy="548640"/>
          </a:xfrm>
          <a:prstGeom prst="rect">
            <a:avLst/>
          </a:prstGeom>
          <a:noFill/>
          <a:ln/>
        </p:spPr>
        <p:txBody>
          <a:bodyPr wrap="square" rtlCol="0" anchor="ctr"/>
          <a:lstStyle/>
          <a:p>
            <a:pPr algn="ctr" indent="0" marL="0">
              <a:buNone/>
            </a:pPr>
            <a:r>
              <a:rPr lang="en-US" sz="1200" dirty="0">
                <a:solidFill>
                  <a:srgbClr val="1E3A5F"/>
                </a:solidFill>
                <a:latin typeface="Microsoft YaHei" pitchFamily="34" charset="0"/>
                <a:ea typeface="Microsoft YaHei" pitchFamily="34" charset="-122"/>
                <a:cs typeface="Microsoft YaHei" pitchFamily="34" charset="-120"/>
              </a:rPr>
              <a:t>选择水系文件</a:t>
            </a:r>
            <a:endParaRPr lang="en-US" sz="1200" dirty="0"/>
          </a:p>
        </p:txBody>
      </p:sp>
      <p:sp>
        <p:nvSpPr>
          <p:cNvPr id="15" name="Text 13"/>
          <p:cNvSpPr/>
          <p:nvPr/>
        </p:nvSpPr>
        <p:spPr>
          <a:xfrm>
            <a:off x="4480560" y="1188720"/>
            <a:ext cx="182880" cy="365760"/>
          </a:xfrm>
          <a:prstGeom prst="rect">
            <a:avLst/>
          </a:prstGeom>
          <a:noFill/>
          <a:ln/>
        </p:spPr>
        <p:txBody>
          <a:bodyPr wrap="square" rtlCol="0" anchor="ctr"/>
          <a:lstStyle/>
          <a:p>
            <a:pPr algn="ctr" indent="0" marL="0">
              <a:buNone/>
            </a:pPr>
            <a:r>
              <a:rPr lang="en-US" sz="1800" dirty="0">
                <a:solidFill>
                  <a:srgbClr val="4A90D9"/>
                </a:solidFill>
                <a:latin typeface="Arial" pitchFamily="34" charset="0"/>
                <a:ea typeface="Arial" pitchFamily="34" charset="-122"/>
                <a:cs typeface="Arial" pitchFamily="34" charset="-120"/>
              </a:rPr>
              <a:t>→</a:t>
            </a:r>
            <a:endParaRPr lang="en-US" sz="1800" dirty="0"/>
          </a:p>
        </p:txBody>
      </p:sp>
      <p:sp>
        <p:nvSpPr>
          <p:cNvPr id="16" name="Shape 14"/>
          <p:cNvSpPr/>
          <p:nvPr/>
        </p:nvSpPr>
        <p:spPr>
          <a:xfrm>
            <a:off x="4572000" y="914400"/>
            <a:ext cx="1188720" cy="1188720"/>
          </a:xfrm>
          <a:prstGeom prst="ellipse">
            <a:avLst/>
          </a:prstGeom>
          <a:solidFill>
            <a:srgbClr val="1E3A5F"/>
          </a:solidFill>
          <a:ln/>
        </p:spPr>
      </p:sp>
      <p:sp>
        <p:nvSpPr>
          <p:cNvPr id="17" name="Text 15"/>
          <p:cNvSpPr/>
          <p:nvPr/>
        </p:nvSpPr>
        <p:spPr>
          <a:xfrm>
            <a:off x="4572000" y="914400"/>
            <a:ext cx="1188720" cy="548640"/>
          </a:xfrm>
          <a:prstGeom prst="rect">
            <a:avLst/>
          </a:prstGeom>
          <a:noFill/>
          <a:ln/>
        </p:spPr>
        <p:txBody>
          <a:bodyPr wrap="square"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4</a:t>
            </a:r>
            <a:endParaRPr lang="en-US" sz="2400" dirty="0"/>
          </a:p>
        </p:txBody>
      </p:sp>
      <p:sp>
        <p:nvSpPr>
          <p:cNvPr id="18" name="Text 16"/>
          <p:cNvSpPr/>
          <p:nvPr/>
        </p:nvSpPr>
        <p:spPr>
          <a:xfrm>
            <a:off x="4480560" y="1508760"/>
            <a:ext cx="1371600" cy="548640"/>
          </a:xfrm>
          <a:prstGeom prst="rect">
            <a:avLst/>
          </a:prstGeom>
          <a:noFill/>
          <a:ln/>
        </p:spPr>
        <p:txBody>
          <a:bodyPr wrap="square" rtlCol="0" anchor="ctr"/>
          <a:lstStyle/>
          <a:p>
            <a:pPr algn="ctr" indent="0" marL="0">
              <a:buNone/>
            </a:pPr>
            <a:r>
              <a:rPr lang="en-US" sz="1200" dirty="0">
                <a:solidFill>
                  <a:srgbClr val="1E3A5F"/>
                </a:solidFill>
                <a:latin typeface="Microsoft YaHei" pitchFamily="34" charset="0"/>
                <a:ea typeface="Microsoft YaHei" pitchFamily="34" charset="-122"/>
                <a:cs typeface="Microsoft YaHei" pitchFamily="34" charset="-120"/>
              </a:rPr>
              <a:t>开始检查</a:t>
            </a:r>
            <a:endParaRPr lang="en-US" sz="1200" dirty="0"/>
          </a:p>
        </p:txBody>
      </p:sp>
      <p:sp>
        <p:nvSpPr>
          <p:cNvPr id="19" name="Text 17"/>
          <p:cNvSpPr/>
          <p:nvPr/>
        </p:nvSpPr>
        <p:spPr>
          <a:xfrm>
            <a:off x="5852160" y="1188720"/>
            <a:ext cx="182880" cy="365760"/>
          </a:xfrm>
          <a:prstGeom prst="rect">
            <a:avLst/>
          </a:prstGeom>
          <a:noFill/>
          <a:ln/>
        </p:spPr>
        <p:txBody>
          <a:bodyPr wrap="square" rtlCol="0" anchor="ctr"/>
          <a:lstStyle/>
          <a:p>
            <a:pPr algn="ctr" indent="0" marL="0">
              <a:buNone/>
            </a:pPr>
            <a:r>
              <a:rPr lang="en-US" sz="1800" dirty="0">
                <a:solidFill>
                  <a:srgbClr val="4A90D9"/>
                </a:solidFill>
                <a:latin typeface="Arial" pitchFamily="34" charset="0"/>
                <a:ea typeface="Arial" pitchFamily="34" charset="-122"/>
                <a:cs typeface="Arial" pitchFamily="34" charset="-120"/>
              </a:rPr>
              <a:t>→</a:t>
            </a:r>
            <a:endParaRPr lang="en-US" sz="1800" dirty="0"/>
          </a:p>
        </p:txBody>
      </p:sp>
      <p:sp>
        <p:nvSpPr>
          <p:cNvPr id="20" name="Shape 18"/>
          <p:cNvSpPr/>
          <p:nvPr/>
        </p:nvSpPr>
        <p:spPr>
          <a:xfrm>
            <a:off x="5943600" y="914400"/>
            <a:ext cx="1188720" cy="1188720"/>
          </a:xfrm>
          <a:prstGeom prst="ellipse">
            <a:avLst/>
          </a:prstGeom>
          <a:solidFill>
            <a:srgbClr val="1E3A5F"/>
          </a:solidFill>
          <a:ln/>
        </p:spPr>
      </p:sp>
      <p:sp>
        <p:nvSpPr>
          <p:cNvPr id="21" name="Text 19"/>
          <p:cNvSpPr/>
          <p:nvPr/>
        </p:nvSpPr>
        <p:spPr>
          <a:xfrm>
            <a:off x="5943600" y="914400"/>
            <a:ext cx="1188720" cy="548640"/>
          </a:xfrm>
          <a:prstGeom prst="rect">
            <a:avLst/>
          </a:prstGeom>
          <a:noFill/>
          <a:ln/>
        </p:spPr>
        <p:txBody>
          <a:bodyPr wrap="square"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5</a:t>
            </a:r>
            <a:endParaRPr lang="en-US" sz="2400" dirty="0"/>
          </a:p>
        </p:txBody>
      </p:sp>
      <p:sp>
        <p:nvSpPr>
          <p:cNvPr id="22" name="Text 20"/>
          <p:cNvSpPr/>
          <p:nvPr/>
        </p:nvSpPr>
        <p:spPr>
          <a:xfrm>
            <a:off x="5852160" y="1508760"/>
            <a:ext cx="1371600" cy="548640"/>
          </a:xfrm>
          <a:prstGeom prst="rect">
            <a:avLst/>
          </a:prstGeom>
          <a:noFill/>
          <a:ln/>
        </p:spPr>
        <p:txBody>
          <a:bodyPr wrap="square" rtlCol="0" anchor="ctr"/>
          <a:lstStyle/>
          <a:p>
            <a:pPr algn="ctr" indent="0" marL="0">
              <a:buNone/>
            </a:pPr>
            <a:r>
              <a:rPr lang="en-US" sz="1200" dirty="0">
                <a:solidFill>
                  <a:srgbClr val="1E3A5F"/>
                </a:solidFill>
                <a:latin typeface="Microsoft YaHei" pitchFamily="34" charset="0"/>
                <a:ea typeface="Microsoft YaHei" pitchFamily="34" charset="-122"/>
                <a:cs typeface="Microsoft YaHei" pitchFamily="34" charset="-120"/>
              </a:rPr>
              <a:t>查看结果</a:t>
            </a:r>
            <a:endParaRPr lang="en-US" sz="1200" dirty="0"/>
          </a:p>
        </p:txBody>
      </p:sp>
      <p:sp>
        <p:nvSpPr>
          <p:cNvPr id="23" name="Text 21"/>
          <p:cNvSpPr/>
          <p:nvPr/>
        </p:nvSpPr>
        <p:spPr>
          <a:xfrm>
            <a:off x="7223760" y="1188720"/>
            <a:ext cx="182880" cy="365760"/>
          </a:xfrm>
          <a:prstGeom prst="rect">
            <a:avLst/>
          </a:prstGeom>
          <a:noFill/>
          <a:ln/>
        </p:spPr>
        <p:txBody>
          <a:bodyPr wrap="square" rtlCol="0" anchor="ctr"/>
          <a:lstStyle/>
          <a:p>
            <a:pPr algn="ctr" indent="0" marL="0">
              <a:buNone/>
            </a:pPr>
            <a:r>
              <a:rPr lang="en-US" sz="1800" dirty="0">
                <a:solidFill>
                  <a:srgbClr val="4A90D9"/>
                </a:solidFill>
                <a:latin typeface="Arial" pitchFamily="34" charset="0"/>
                <a:ea typeface="Arial" pitchFamily="34" charset="-122"/>
                <a:cs typeface="Arial" pitchFamily="34" charset="-120"/>
              </a:rPr>
              <a:t>→</a:t>
            </a:r>
            <a:endParaRPr lang="en-US" sz="1800" dirty="0"/>
          </a:p>
        </p:txBody>
      </p:sp>
      <p:sp>
        <p:nvSpPr>
          <p:cNvPr id="24" name="Shape 22"/>
          <p:cNvSpPr/>
          <p:nvPr/>
        </p:nvSpPr>
        <p:spPr>
          <a:xfrm>
            <a:off x="7315200" y="914400"/>
            <a:ext cx="1188720" cy="1188720"/>
          </a:xfrm>
          <a:prstGeom prst="ellipse">
            <a:avLst/>
          </a:prstGeom>
          <a:solidFill>
            <a:srgbClr val="1E3A5F"/>
          </a:solidFill>
          <a:ln/>
        </p:spPr>
      </p:sp>
      <p:sp>
        <p:nvSpPr>
          <p:cNvPr id="25" name="Text 23"/>
          <p:cNvSpPr/>
          <p:nvPr/>
        </p:nvSpPr>
        <p:spPr>
          <a:xfrm>
            <a:off x="7315200" y="914400"/>
            <a:ext cx="1188720" cy="548640"/>
          </a:xfrm>
          <a:prstGeom prst="rect">
            <a:avLst/>
          </a:prstGeom>
          <a:noFill/>
          <a:ln/>
        </p:spPr>
        <p:txBody>
          <a:bodyPr wrap="square"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6</a:t>
            </a:r>
            <a:endParaRPr lang="en-US" sz="2400" dirty="0"/>
          </a:p>
        </p:txBody>
      </p:sp>
      <p:sp>
        <p:nvSpPr>
          <p:cNvPr id="26" name="Text 24"/>
          <p:cNvSpPr/>
          <p:nvPr/>
        </p:nvSpPr>
        <p:spPr>
          <a:xfrm>
            <a:off x="7223760" y="1508760"/>
            <a:ext cx="1371600" cy="548640"/>
          </a:xfrm>
          <a:prstGeom prst="rect">
            <a:avLst/>
          </a:prstGeom>
          <a:noFill/>
          <a:ln/>
        </p:spPr>
        <p:txBody>
          <a:bodyPr wrap="square" rtlCol="0" anchor="ctr"/>
          <a:lstStyle/>
          <a:p>
            <a:pPr algn="ctr" indent="0" marL="0">
              <a:buNone/>
            </a:pPr>
            <a:r>
              <a:rPr lang="en-US" sz="1200" dirty="0">
                <a:solidFill>
                  <a:srgbClr val="1E3A5F"/>
                </a:solidFill>
                <a:latin typeface="Microsoft YaHei" pitchFamily="34" charset="0"/>
                <a:ea typeface="Microsoft YaHei" pitchFamily="34" charset="-122"/>
                <a:cs typeface="Microsoft YaHei" pitchFamily="34" charset="-120"/>
              </a:rPr>
              <a:t>导出报告</a:t>
            </a:r>
            <a:endParaRPr lang="en-US" sz="1200" dirty="0"/>
          </a:p>
        </p:txBody>
      </p:sp>
      <p:sp>
        <p:nvSpPr>
          <p:cNvPr id="27" name="Text 25"/>
          <p:cNvSpPr/>
          <p:nvPr/>
        </p:nvSpPr>
        <p:spPr>
          <a:xfrm>
            <a:off x="457200" y="2377440"/>
            <a:ext cx="8229600" cy="365760"/>
          </a:xfrm>
          <a:prstGeom prst="rect">
            <a:avLst/>
          </a:prstGeom>
          <a:noFill/>
          <a:ln/>
        </p:spPr>
        <p:txBody>
          <a:bodyPr wrap="square" rtlCol="0" anchor="ctr"/>
          <a:lstStyle/>
          <a:p>
            <a:pPr indent="0" marL="0">
              <a:buNone/>
            </a:pPr>
            <a:r>
              <a:rPr lang="en-US" sz="1600" b="1" dirty="0">
                <a:solidFill>
                  <a:srgbClr val="1E3A5F"/>
                </a:solidFill>
                <a:latin typeface="Microsoft YaHei" pitchFamily="34" charset="0"/>
                <a:ea typeface="Microsoft YaHei" pitchFamily="34" charset="-122"/>
                <a:cs typeface="Microsoft YaHei" pitchFamily="34" charset="-120"/>
              </a:rPr>
              <a:t>检查结果展示</a:t>
            </a:r>
            <a:endParaRPr lang="en-US" sz="1600" dirty="0"/>
          </a:p>
        </p:txBody>
      </p:sp>
      <p:sp>
        <p:nvSpPr>
          <p:cNvPr id="28" name="Text 26"/>
          <p:cNvSpPr/>
          <p:nvPr/>
        </p:nvSpPr>
        <p:spPr>
          <a:xfrm>
            <a:off x="457200" y="2743200"/>
            <a:ext cx="4114800" cy="274320"/>
          </a:xfrm>
          <a:prstGeom prst="rect">
            <a:avLst/>
          </a:prstGeom>
          <a:noFill/>
          <a:ln/>
        </p:spPr>
        <p:txBody>
          <a:bodyPr wrap="square" rtlCol="0" anchor="ctr"/>
          <a:lstStyle/>
          <a:p>
            <a:pPr indent="0" marL="0">
              <a:buNone/>
            </a:pPr>
            <a:r>
              <a:rPr lang="en-US" sz="1400" dirty="0">
                <a:solidFill>
                  <a:srgbClr val="333333"/>
                </a:solidFill>
                <a:latin typeface="Microsoft YaHei" pitchFamily="34" charset="0"/>
                <a:ea typeface="Microsoft YaHei" pitchFamily="34" charset="-122"/>
                <a:cs typeface="Microsoft YaHei" pitchFamily="34" charset="-120"/>
              </a:rPr>
              <a:t>• 汇总统计</a:t>
            </a:r>
            <a:endParaRPr lang="en-US" sz="1400" dirty="0"/>
          </a:p>
        </p:txBody>
      </p:sp>
      <p:sp>
        <p:nvSpPr>
          <p:cNvPr id="29" name="Text 27"/>
          <p:cNvSpPr/>
          <p:nvPr/>
        </p:nvSpPr>
        <p:spPr>
          <a:xfrm>
            <a:off x="457200" y="3063240"/>
            <a:ext cx="4114800" cy="274320"/>
          </a:xfrm>
          <a:prstGeom prst="rect">
            <a:avLst/>
          </a:prstGeom>
          <a:noFill/>
          <a:ln/>
        </p:spPr>
        <p:txBody>
          <a:bodyPr wrap="square" rtlCol="0" anchor="ctr"/>
          <a:lstStyle/>
          <a:p>
            <a:pPr indent="0" marL="0">
              <a:buNone/>
            </a:pPr>
            <a:r>
              <a:rPr lang="en-US" sz="1400" dirty="0">
                <a:solidFill>
                  <a:srgbClr val="333333"/>
                </a:solidFill>
                <a:latin typeface="Microsoft YaHei" pitchFamily="34" charset="0"/>
                <a:ea typeface="Microsoft YaHei" pitchFamily="34" charset="-122"/>
                <a:cs typeface="Microsoft YaHei" pitchFamily="34" charset="-120"/>
              </a:rPr>
              <a:t>• 断面平面位置</a:t>
            </a:r>
            <a:endParaRPr lang="en-US" sz="1400" dirty="0"/>
          </a:p>
        </p:txBody>
      </p:sp>
      <p:sp>
        <p:nvSpPr>
          <p:cNvPr id="30" name="Text 28"/>
          <p:cNvSpPr/>
          <p:nvPr/>
        </p:nvSpPr>
        <p:spPr>
          <a:xfrm>
            <a:off x="457200" y="3383280"/>
            <a:ext cx="4114800" cy="274320"/>
          </a:xfrm>
          <a:prstGeom prst="rect">
            <a:avLst/>
          </a:prstGeom>
          <a:noFill/>
          <a:ln/>
        </p:spPr>
        <p:txBody>
          <a:bodyPr wrap="square" rtlCol="0" anchor="ctr"/>
          <a:lstStyle/>
          <a:p>
            <a:pPr indent="0" marL="0">
              <a:buNone/>
            </a:pPr>
            <a:r>
              <a:rPr lang="en-US" sz="1400" dirty="0">
                <a:solidFill>
                  <a:srgbClr val="333333"/>
                </a:solidFill>
                <a:latin typeface="Microsoft YaHei" pitchFamily="34" charset="0"/>
                <a:ea typeface="Microsoft YaHei" pitchFamily="34" charset="-122"/>
                <a:cs typeface="Microsoft YaHei" pitchFamily="34" charset="-120"/>
              </a:rPr>
              <a:t>• 防治对象分布</a:t>
            </a:r>
            <a:endParaRPr lang="en-US" sz="1400" dirty="0"/>
          </a:p>
        </p:txBody>
      </p:sp>
      <p:sp>
        <p:nvSpPr>
          <p:cNvPr id="31" name="Text 29"/>
          <p:cNvSpPr/>
          <p:nvPr/>
        </p:nvSpPr>
        <p:spPr>
          <a:xfrm>
            <a:off x="4572000" y="2743200"/>
            <a:ext cx="4114800" cy="274320"/>
          </a:xfrm>
          <a:prstGeom prst="rect">
            <a:avLst/>
          </a:prstGeom>
          <a:noFill/>
          <a:ln/>
        </p:spPr>
        <p:txBody>
          <a:bodyPr wrap="square" rtlCol="0" anchor="ctr"/>
          <a:lstStyle/>
          <a:p>
            <a:pPr indent="0" marL="0">
              <a:buNone/>
            </a:pPr>
            <a:r>
              <a:rPr lang="en-US" sz="1400" dirty="0">
                <a:solidFill>
                  <a:srgbClr val="333333"/>
                </a:solidFill>
                <a:latin typeface="Microsoft YaHei" pitchFamily="34" charset="0"/>
                <a:ea typeface="Microsoft YaHei" pitchFamily="34" charset="-122"/>
                <a:cs typeface="Microsoft YaHei" pitchFamily="34" charset="-120"/>
              </a:rPr>
              <a:t>• 隐患要素分布</a:t>
            </a:r>
            <a:endParaRPr lang="en-US" sz="1400" dirty="0"/>
          </a:p>
        </p:txBody>
      </p:sp>
      <p:sp>
        <p:nvSpPr>
          <p:cNvPr id="32" name="Text 30"/>
          <p:cNvSpPr/>
          <p:nvPr/>
        </p:nvSpPr>
        <p:spPr>
          <a:xfrm>
            <a:off x="4572000" y="3063240"/>
            <a:ext cx="4114800" cy="274320"/>
          </a:xfrm>
          <a:prstGeom prst="rect">
            <a:avLst/>
          </a:prstGeom>
          <a:noFill/>
          <a:ln/>
        </p:spPr>
        <p:txBody>
          <a:bodyPr wrap="square" rtlCol="0" anchor="ctr"/>
          <a:lstStyle/>
          <a:p>
            <a:pPr indent="0" marL="0">
              <a:buNone/>
            </a:pPr>
            <a:r>
              <a:rPr lang="en-US" sz="1400" dirty="0">
                <a:solidFill>
                  <a:srgbClr val="333333"/>
                </a:solidFill>
                <a:latin typeface="Microsoft YaHei" pitchFamily="34" charset="0"/>
                <a:ea typeface="Microsoft YaHei" pitchFamily="34" charset="-122"/>
                <a:cs typeface="Microsoft YaHei" pitchFamily="34" charset="-120"/>
              </a:rPr>
              <a:t>• 水系数据</a:t>
            </a:r>
            <a:endParaRPr lang="en-US" sz="1400" dirty="0"/>
          </a:p>
        </p:txBody>
      </p:sp>
      <p:sp>
        <p:nvSpPr>
          <p:cNvPr id="33" name="Text 31"/>
          <p:cNvSpPr/>
          <p:nvPr/>
        </p:nvSpPr>
        <p:spPr>
          <a:xfrm>
            <a:off x="8412480" y="4754880"/>
            <a:ext cx="457200" cy="274320"/>
          </a:xfrm>
          <a:prstGeom prst="rect">
            <a:avLst/>
          </a:prstGeom>
          <a:noFill/>
          <a:ln/>
        </p:spPr>
        <p:txBody>
          <a:bodyPr wrap="square" rtlCol="0" anchor="ctr"/>
          <a:lstStyle/>
          <a:p>
            <a:pPr algn="r" indent="0" marL="0">
              <a:buNone/>
            </a:pPr>
            <a:r>
              <a:rPr lang="en-US" sz="1200" dirty="0">
                <a:solidFill>
                  <a:srgbClr val="4A90D9"/>
                </a:solidFill>
                <a:latin typeface="Arial" pitchFamily="34" charset="0"/>
                <a:ea typeface="Arial" pitchFamily="34" charset="-122"/>
                <a:cs typeface="Arial"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1E3A5F"/>
          </a:solidFill>
          <a:ln/>
        </p:spPr>
      </p:sp>
      <p:sp>
        <p:nvSpPr>
          <p:cNvPr id="3" name="Text 1"/>
          <p:cNvSpPr/>
          <p:nvPr/>
        </p:nvSpPr>
        <p:spPr>
          <a:xfrm>
            <a:off x="457200" y="365760"/>
            <a:ext cx="8229600" cy="457200"/>
          </a:xfrm>
          <a:prstGeom prst="rect">
            <a:avLst/>
          </a:prstGeom>
          <a:noFill/>
          <a:ln/>
        </p:spPr>
        <p:txBody>
          <a:bodyPr wrap="square" rtlCol="0" anchor="ctr"/>
          <a:lstStyle/>
          <a:p>
            <a:pPr indent="0" marL="0">
              <a:buNone/>
            </a:pPr>
            <a:r>
              <a:rPr lang="en-US" sz="2600" b="1" dirty="0">
                <a:solidFill>
                  <a:srgbClr val="1E3A5F"/>
                </a:solidFill>
                <a:latin typeface="Microsoft YaHei" pitchFamily="34" charset="0"/>
                <a:ea typeface="Microsoft YaHei" pitchFamily="34" charset="-122"/>
                <a:cs typeface="Microsoft YaHei" pitchFamily="34" charset="-120"/>
              </a:rPr>
              <a:t>效果对比</a:t>
            </a:r>
            <a:endParaRPr lang="en-US" sz="2600" dirty="0"/>
          </a:p>
        </p:txBody>
      </p:sp>
      <p:sp>
        <p:nvSpPr>
          <p:cNvPr id="4" name="Text 2"/>
          <p:cNvSpPr/>
          <p:nvPr/>
        </p:nvSpPr>
        <p:spPr>
          <a:xfrm>
            <a:off x="457200" y="914400"/>
            <a:ext cx="8229600" cy="320040"/>
          </a:xfrm>
          <a:prstGeom prst="rect">
            <a:avLst/>
          </a:prstGeom>
          <a:noFill/>
          <a:ln/>
        </p:spPr>
        <p:txBody>
          <a:bodyPr wrap="square" rtlCol="0" anchor="ctr"/>
          <a:lstStyle/>
          <a:p>
            <a:pPr indent="0" marL="0">
              <a:buNone/>
            </a:pPr>
            <a:r>
              <a:rPr lang="en-US" sz="1800" b="1" dirty="0">
                <a:solidFill>
                  <a:srgbClr val="333333"/>
                </a:solidFill>
                <a:latin typeface="Microsoft YaHei" pitchFamily="34" charset="0"/>
                <a:ea typeface="Microsoft YaHei" pitchFamily="34" charset="-122"/>
                <a:cs typeface="Microsoft YaHei" pitchFamily="34" charset="-120"/>
              </a:rPr>
              <a:t>效率提升对比</a:t>
            </a:r>
            <a:endParaRPr lang="en-US" sz="1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274320" y="1371600"/>
          <a:ext cx="8595360" cy="2103120"/>
        </p:xfrm>
        <a:graphic>
          <a:graphicData uri="http://schemas.openxmlformats.org/drawingml/2006/table">
            <a:tbl>
              <a:tblPr/>
              <a:tblGrid>
                <a:gridCol w="2286000"/>
                <a:gridCol w="1828800"/>
                <a:gridCol w="2286000"/>
                <a:gridCol w="2194560"/>
              </a:tblGrid>
              <a:tr h="350520">
                <a:tc>
                  <a:txBody>
                    <a:bodyPr/>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对比项</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solidFill>
                      <a:srgbClr val="1E3A5F"/>
                    </a:solidFill>
                  </a:tcPr>
                </a:tc>
                <a:tc>
                  <a:txBody>
                    <a:bodyPr/>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人工审核</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solidFill>
                      <a:srgbClr val="1E3A5F"/>
                    </a:solidFill>
                  </a:tcPr>
                </a:tc>
                <a:tc>
                  <a:txBody>
                    <a:bodyPr/>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工具辅助</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solidFill>
                      <a:srgbClr val="1E3A5F"/>
                    </a:solidFill>
                  </a:tcPr>
                </a:tc>
                <a:tc>
                  <a:txBody>
                    <a:bodyPr/>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效率提升</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solidFill>
                      <a:srgbClr val="1E3A5F"/>
                    </a:solidFill>
                  </a:tcPr>
                </a:tc>
              </a:tr>
              <a:tr h="350520">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检查时间</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4-6小时</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5-10分钟</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90%+</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r>
              <a:tr h="350520">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问题发现率</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70-80%</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接近100%</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+20-30%</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r>
              <a:tr h="350520">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报告编制</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约2小时</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自动生成</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100%</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r>
              <a:tr h="350520">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重复性工作</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高</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低</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大幅降低</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r>
              <a:tr h="350520">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标准一致性</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存在差异</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完全统一</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质量保证</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r>
            </a:tbl>
          </a:graphicData>
        </a:graphic>
      </p:graphicFrame>
      <p:sp>
        <p:nvSpPr>
          <p:cNvPr id="6" name="Text 3"/>
          <p:cNvSpPr/>
          <p:nvPr/>
        </p:nvSpPr>
        <p:spPr>
          <a:xfrm>
            <a:off x="8412480" y="4754880"/>
            <a:ext cx="457200" cy="274320"/>
          </a:xfrm>
          <a:prstGeom prst="rect">
            <a:avLst/>
          </a:prstGeom>
          <a:noFill/>
          <a:ln/>
        </p:spPr>
        <p:txBody>
          <a:bodyPr wrap="square" rtlCol="0" anchor="ctr"/>
          <a:lstStyle/>
          <a:p>
            <a:pPr algn="r" indent="0" marL="0">
              <a:buNone/>
            </a:pPr>
            <a:r>
              <a:rPr lang="en-US" sz="1200" dirty="0">
                <a:solidFill>
                  <a:srgbClr val="4A90D9"/>
                </a:solidFill>
                <a:latin typeface="Arial" pitchFamily="34" charset="0"/>
                <a:ea typeface="Arial" pitchFamily="34" charset="-122"/>
                <a:cs typeface="Arial"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1E3A5F"/>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1E3A5F"/>
                </a:solidFill>
                <a:latin typeface="Microsoft YaHei" pitchFamily="34" charset="0"/>
                <a:ea typeface="Microsoft YaHei" pitchFamily="34" charset="-122"/>
                <a:cs typeface="Microsoft YaHei" pitchFamily="34" charset="-120"/>
              </a:rPr>
              <a:t>质量提升效果</a:t>
            </a:r>
            <a:endParaRPr lang="en-US" sz="2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274320" y="822960"/>
          <a:ext cx="5029200" cy="1828800"/>
        </p:xfrm>
        <a:graphic>
          <a:graphicData uri="http://schemas.openxmlformats.org/drawingml/2006/table">
            <a:tbl>
              <a:tblPr/>
              <a:tblGrid>
                <a:gridCol w="1645920"/>
                <a:gridCol w="914400"/>
                <a:gridCol w="914400"/>
                <a:gridCol w="914400"/>
              </a:tblGrid>
              <a:tr h="304800">
                <a:tc>
                  <a:txBody>
                    <a:bodyPr/>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质量指标</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solidFill>
                      <a:srgbClr val="1E3A5F"/>
                    </a:solidFill>
                  </a:tcPr>
                </a:tc>
                <a:tc>
                  <a:txBody>
                    <a:bodyPr/>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使用前</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solidFill>
                      <a:srgbClr val="1E3A5F"/>
                    </a:solidFill>
                  </a:tcPr>
                </a:tc>
                <a:tc>
                  <a:txBody>
                    <a:bodyPr/>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使用后</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solidFill>
                      <a:srgbClr val="1E3A5F"/>
                    </a:solidFill>
                  </a:tcPr>
                </a:tc>
                <a:tc>
                  <a:txBody>
                    <a:bodyPr/>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改进</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solidFill>
                      <a:srgbClr val="1E3A5F"/>
                    </a:solidFill>
                  </a:tcPr>
                </a:tc>
              </a:tr>
              <a:tr h="304800">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数据完整率</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85%</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98%</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+13%</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r>
              <a:tr h="304800">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字段规范率</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78%</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99%</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+21%</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r>
              <a:tr h="304800">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一致性达标率</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82%</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97%</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+15%</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r>
              <a:tr h="304800">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重复记录率</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5%</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0.5%</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-4.5%</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r>
              <a:tr h="304800">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一次通过率</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60%</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95%</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+35%</a:t>
                      </a:r>
                      <a:endParaRPr lang="en-US" sz="1400" dirty="0">
                        <a:latin typeface="Microsoft YaHei" charset="0"/>
                        <a:ea typeface="Microsoft YaHei" charset="0"/>
                        <a:cs typeface="Microsoft YaHei" charset="0"/>
                      </a:endParaRPr>
                    </a:p>
                  </a:txBody>
                  <a:tcPr marL="91440" marR="91440" marT="45720" marB="45720" anchor="ctr">
                    <a:lnL w="12700" cap="flat" cmpd="sng" algn="ctr">
                      <a:solidFill>
                        <a:srgbClr val="4A90D9"/>
                      </a:solidFill>
                      <a:prstDash val="solid"/>
                      <a:round/>
                      <a:headEnd type="none" w="med" len="med"/>
                      <a:tailEnd type="none" w="med" len="med"/>
                    </a:lnL>
                    <a:lnR w="12700" cap="flat" cmpd="sng" algn="ctr">
                      <a:solidFill>
                        <a:srgbClr val="4A90D9"/>
                      </a:solidFill>
                      <a:prstDash val="solid"/>
                      <a:round/>
                      <a:headEnd type="none" w="med" len="med"/>
                      <a:tailEnd type="none" w="med" len="med"/>
                    </a:lnR>
                    <a:lnT w="12700" cap="flat" cmpd="sng" algn="ctr">
                      <a:solidFill>
                        <a:srgbClr val="4A90D9"/>
                      </a:solidFill>
                      <a:prstDash val="solid"/>
                      <a:round/>
                      <a:headEnd type="none" w="med" len="med"/>
                      <a:tailEnd type="none" w="med" len="med"/>
                    </a:lnT>
                    <a:lnB w="12700" cap="flat" cmpd="sng" algn="ctr">
                      <a:solidFill>
                        <a:srgbClr val="4A90D9"/>
                      </a:solidFill>
                      <a:prstDash val="solid"/>
                      <a:round/>
                      <a:headEnd type="none" w="med" len="med"/>
                      <a:tailEnd type="none" w="med" len="med"/>
                    </a:lnB>
                  </a:tcPr>
                </a:tc>
              </a:tr>
            </a:tbl>
          </a:graphicData>
        </a:graphic>
      </p:graphicFrame>
      <p:sp>
        <p:nvSpPr>
          <p:cNvPr id="5" name="Text 2"/>
          <p:cNvSpPr/>
          <p:nvPr/>
        </p:nvSpPr>
        <p:spPr>
          <a:xfrm>
            <a:off x="5486400" y="822960"/>
            <a:ext cx="3474720" cy="365760"/>
          </a:xfrm>
          <a:prstGeom prst="rect">
            <a:avLst/>
          </a:prstGeom>
          <a:noFill/>
          <a:ln/>
        </p:spPr>
        <p:txBody>
          <a:bodyPr wrap="square" rtlCol="0" anchor="ctr"/>
          <a:lstStyle/>
          <a:p>
            <a:pPr indent="0" marL="0">
              <a:buNone/>
            </a:pPr>
            <a:r>
              <a:rPr lang="en-US" sz="1800" b="1" dirty="0">
                <a:solidFill>
                  <a:srgbClr val="1E3A5F"/>
                </a:solidFill>
                <a:latin typeface="Microsoft YaHei" pitchFamily="34" charset="0"/>
                <a:ea typeface="Microsoft YaHei" pitchFamily="34" charset="-122"/>
                <a:cs typeface="Microsoft YaHei" pitchFamily="34" charset="-120"/>
              </a:rPr>
              <a:t>典型案例</a:t>
            </a:r>
            <a:endParaRPr lang="en-US" sz="1800" dirty="0"/>
          </a:p>
        </p:txBody>
      </p:sp>
      <p:sp>
        <p:nvSpPr>
          <p:cNvPr id="6" name="Text 3"/>
          <p:cNvSpPr/>
          <p:nvPr/>
        </p:nvSpPr>
        <p:spPr>
          <a:xfrm>
            <a:off x="5486400" y="1280160"/>
            <a:ext cx="3474720" cy="1097280"/>
          </a:xfrm>
          <a:prstGeom prst="rect">
            <a:avLst/>
          </a:prstGeom>
          <a:noFill/>
          <a:ln/>
        </p:spPr>
        <p:txBody>
          <a:bodyPr wrap="square" rtlCol="0" anchor="ctr"/>
          <a:lstStyle/>
          <a:p>
            <a:pPr indent="0" marL="0">
              <a:buNone/>
            </a:pPr>
            <a:r>
              <a:rPr lang="en-US" sz="1400" dirty="0">
                <a:solidFill>
                  <a:srgbClr val="333333"/>
                </a:solidFill>
                <a:latin typeface="Microsoft YaHei" pitchFamily="34" charset="0"/>
                <a:ea typeface="Microsoft YaHei" pitchFamily="34" charset="-122"/>
                <a:cs typeface="Microsoft YaHei" pitchFamily="34" charset="-120"/>
              </a:rPr>
              <a:t>河流代码问题：发现23条不符合17位要求</a:t>
            </a:r>
            <a:endParaRPr lang="en-US" sz="1400" dirty="0"/>
          </a:p>
          <a:p>
            <a:pPr indent="0" marL="0">
              <a:buNone/>
            </a:pPr>
            <a:endParaRPr lang="en-US" sz="1400" dirty="0"/>
          </a:p>
          <a:p>
            <a:pPr indent="0" marL="0">
              <a:buNone/>
            </a:pPr>
            <a:r>
              <a:rPr lang="en-US" sz="1400" dirty="0">
                <a:solidFill>
                  <a:srgbClr val="333333"/>
                </a:solidFill>
                <a:latin typeface="Microsoft YaHei" pitchFamily="34" charset="0"/>
                <a:ea typeface="Microsoft YaHei" pitchFamily="34" charset="-122"/>
                <a:cs typeface="Microsoft YaHei" pitchFamily="34" charset="-120"/>
              </a:rPr>
              <a:t>编号重复问题：发现12条重复记录</a:t>
            </a:r>
            <a:endParaRPr lang="en-US" sz="1400" dirty="0"/>
          </a:p>
        </p:txBody>
      </p:sp>
      <p:sp>
        <p:nvSpPr>
          <p:cNvPr id="7" name="Text 4"/>
          <p:cNvSpPr/>
          <p:nvPr/>
        </p:nvSpPr>
        <p:spPr>
          <a:xfrm>
            <a:off x="457200" y="2926080"/>
            <a:ext cx="8229600" cy="320040"/>
          </a:xfrm>
          <a:prstGeom prst="rect">
            <a:avLst/>
          </a:prstGeom>
          <a:noFill/>
          <a:ln/>
        </p:spPr>
        <p:txBody>
          <a:bodyPr wrap="square" rtlCol="0" anchor="ctr"/>
          <a:lstStyle/>
          <a:p>
            <a:pPr indent="0" marL="0">
              <a:buNone/>
            </a:pPr>
            <a:r>
              <a:rPr lang="en-US" sz="1600" b="1" dirty="0">
                <a:solidFill>
                  <a:srgbClr val="1E3A5F"/>
                </a:solidFill>
                <a:latin typeface="Microsoft YaHei" pitchFamily="34" charset="0"/>
                <a:ea typeface="Microsoft YaHei" pitchFamily="34" charset="-122"/>
                <a:cs typeface="Microsoft YaHei" pitchFamily="34" charset="-120"/>
              </a:rPr>
              <a:t>同行业软件对比</a:t>
            </a:r>
            <a:endParaRPr lang="en-US" sz="1600" dirty="0"/>
          </a:p>
        </p:txBody>
      </p:sp>
      <p:sp>
        <p:nvSpPr>
          <p:cNvPr id="8" name="Text 5"/>
          <p:cNvSpPr/>
          <p:nvPr/>
        </p:nvSpPr>
        <p:spPr>
          <a:xfrm>
            <a:off x="457200" y="3291840"/>
            <a:ext cx="8229600" cy="548640"/>
          </a:xfrm>
          <a:prstGeom prst="rect">
            <a:avLst/>
          </a:prstGeom>
          <a:noFill/>
          <a:ln/>
        </p:spPr>
        <p:txBody>
          <a:bodyPr wrap="square" rtlCol="0" anchor="ctr"/>
          <a:lstStyle/>
          <a:p>
            <a:pPr indent="0" marL="0">
              <a:buNone/>
            </a:pPr>
            <a:r>
              <a:rPr lang="en-US" sz="1400" dirty="0">
                <a:solidFill>
                  <a:srgbClr val="333333"/>
                </a:solidFill>
                <a:latin typeface="Microsoft YaHei" pitchFamily="34" charset="0"/>
                <a:ea typeface="Microsoft YaHei" pitchFamily="34" charset="-122"/>
                <a:cs typeface="Microsoft YaHei" pitchFamily="34" charset="-120"/>
              </a:rPr>
              <a:t>vs 七兆公司审核软件：我方新增合规性检查、SHP格式化、成果规范化处理等核心功能，不仅检出错误，更提供明确修改指引。</a:t>
            </a:r>
            <a:endParaRPr lang="en-US" sz="1400" dirty="0"/>
          </a:p>
        </p:txBody>
      </p:sp>
      <p:sp>
        <p:nvSpPr>
          <p:cNvPr id="9" name="Text 6"/>
          <p:cNvSpPr/>
          <p:nvPr/>
        </p:nvSpPr>
        <p:spPr>
          <a:xfrm>
            <a:off x="8412480" y="4754880"/>
            <a:ext cx="457200" cy="274320"/>
          </a:xfrm>
          <a:prstGeom prst="rect">
            <a:avLst/>
          </a:prstGeom>
          <a:noFill/>
          <a:ln/>
        </p:spPr>
        <p:txBody>
          <a:bodyPr wrap="square" rtlCol="0" anchor="ctr"/>
          <a:lstStyle/>
          <a:p>
            <a:pPr algn="r" indent="0" marL="0">
              <a:buNone/>
            </a:pPr>
            <a:r>
              <a:rPr lang="en-US" sz="1200" dirty="0">
                <a:solidFill>
                  <a:srgbClr val="4A90D9"/>
                </a:solidFill>
                <a:latin typeface="Arial" pitchFamily="34" charset="0"/>
                <a:ea typeface="Arial" pitchFamily="34" charset="-122"/>
                <a:cs typeface="Arial"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1E3A5F"/>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1E3A5F"/>
                </a:solidFill>
                <a:latin typeface="Microsoft YaHei" pitchFamily="34" charset="0"/>
                <a:ea typeface="Microsoft YaHei" pitchFamily="34" charset="-122"/>
                <a:cs typeface="Microsoft YaHei" pitchFamily="34" charset="-120"/>
              </a:rPr>
              <a:t>综合应用效益</a:t>
            </a:r>
            <a:endParaRPr lang="en-US" sz="2400" dirty="0"/>
          </a:p>
        </p:txBody>
      </p:sp>
      <p:sp>
        <p:nvSpPr>
          <p:cNvPr id="4" name="Text 2"/>
          <p:cNvSpPr/>
          <p:nvPr/>
        </p:nvSpPr>
        <p:spPr>
          <a:xfrm>
            <a:off x="457200" y="914400"/>
            <a:ext cx="3657600" cy="320040"/>
          </a:xfrm>
          <a:prstGeom prst="rect">
            <a:avLst/>
          </a:prstGeom>
          <a:noFill/>
          <a:ln/>
        </p:spPr>
        <p:txBody>
          <a:bodyPr wrap="square" rtlCol="0" anchor="ctr"/>
          <a:lstStyle/>
          <a:p>
            <a:pPr indent="0" marL="0">
              <a:buNone/>
            </a:pPr>
            <a:r>
              <a:rPr lang="en-US" sz="1600" b="1" dirty="0">
                <a:solidFill>
                  <a:srgbClr val="1E3A5F"/>
                </a:solidFill>
                <a:latin typeface="Microsoft YaHei" pitchFamily="34" charset="0"/>
                <a:ea typeface="Microsoft YaHei" pitchFamily="34" charset="-122"/>
                <a:cs typeface="Microsoft YaHei" pitchFamily="34" charset="-120"/>
              </a:rPr>
              <a:t>效率效益</a:t>
            </a:r>
            <a:endParaRPr lang="en-US" sz="1600" dirty="0"/>
          </a:p>
        </p:txBody>
      </p:sp>
      <p:sp>
        <p:nvSpPr>
          <p:cNvPr id="5" name="Text 3"/>
          <p:cNvSpPr/>
          <p:nvPr/>
        </p:nvSpPr>
        <p:spPr>
          <a:xfrm>
            <a:off x="457200" y="1280160"/>
            <a:ext cx="3657600" cy="274320"/>
          </a:xfrm>
          <a:prstGeom prst="rect">
            <a:avLst/>
          </a:prstGeom>
          <a:noFill/>
          <a:ln/>
        </p:spPr>
        <p:txBody>
          <a:bodyPr wrap="square" rtlCol="0" anchor="ctr"/>
          <a:lstStyle/>
          <a:p>
            <a:pPr indent="0" marL="0">
              <a:buNone/>
            </a:pPr>
            <a:r>
              <a:rPr lang="en-US" sz="1300" dirty="0">
                <a:solidFill>
                  <a:srgbClr val="333333"/>
                </a:solidFill>
                <a:latin typeface="Microsoft YaHei" pitchFamily="34" charset="0"/>
                <a:ea typeface="Microsoft YaHei" pitchFamily="34" charset="-122"/>
                <a:cs typeface="Microsoft YaHei" pitchFamily="34" charset="-120"/>
              </a:rPr>
              <a:t>• AI辅助开发周期压缩80%</a:t>
            </a:r>
            <a:endParaRPr lang="en-US" sz="1300" dirty="0"/>
          </a:p>
        </p:txBody>
      </p:sp>
      <p:sp>
        <p:nvSpPr>
          <p:cNvPr id="6" name="Text 4"/>
          <p:cNvSpPr/>
          <p:nvPr/>
        </p:nvSpPr>
        <p:spPr>
          <a:xfrm>
            <a:off x="457200" y="1600200"/>
            <a:ext cx="3657600" cy="274320"/>
          </a:xfrm>
          <a:prstGeom prst="rect">
            <a:avLst/>
          </a:prstGeom>
          <a:noFill/>
          <a:ln/>
        </p:spPr>
        <p:txBody>
          <a:bodyPr wrap="square" rtlCol="0" anchor="ctr"/>
          <a:lstStyle/>
          <a:p>
            <a:pPr indent="0" marL="0">
              <a:buNone/>
            </a:pPr>
            <a:r>
              <a:rPr lang="en-US" sz="1300" dirty="0">
                <a:solidFill>
                  <a:srgbClr val="333333"/>
                </a:solidFill>
                <a:latin typeface="Microsoft YaHei" pitchFamily="34" charset="0"/>
                <a:ea typeface="Microsoft YaHei" pitchFamily="34" charset="-122"/>
                <a:cs typeface="Microsoft YaHei" pitchFamily="34" charset="-120"/>
              </a:rPr>
              <a:t>• 审核时长压缩90%+</a:t>
            </a:r>
            <a:endParaRPr lang="en-US" sz="1300" dirty="0"/>
          </a:p>
        </p:txBody>
      </p:sp>
      <p:sp>
        <p:nvSpPr>
          <p:cNvPr id="7" name="Text 5"/>
          <p:cNvSpPr/>
          <p:nvPr/>
        </p:nvSpPr>
        <p:spPr>
          <a:xfrm>
            <a:off x="457200" y="1920240"/>
            <a:ext cx="3657600" cy="274320"/>
          </a:xfrm>
          <a:prstGeom prst="rect">
            <a:avLst/>
          </a:prstGeom>
          <a:noFill/>
          <a:ln/>
        </p:spPr>
        <p:txBody>
          <a:bodyPr wrap="square" rtlCol="0" anchor="ctr"/>
          <a:lstStyle/>
          <a:p>
            <a:pPr indent="0" marL="0">
              <a:buNone/>
            </a:pPr>
            <a:r>
              <a:rPr lang="en-US" sz="1300" dirty="0">
                <a:solidFill>
                  <a:srgbClr val="333333"/>
                </a:solidFill>
                <a:latin typeface="Microsoft YaHei" pitchFamily="34" charset="0"/>
                <a:ea typeface="Microsoft YaHei" pitchFamily="34" charset="-122"/>
                <a:cs typeface="Microsoft YaHei" pitchFamily="34" charset="-120"/>
              </a:rPr>
              <a:t>• 报告自动生成100%</a:t>
            </a:r>
            <a:endParaRPr lang="en-US" sz="1300" dirty="0"/>
          </a:p>
        </p:txBody>
      </p:sp>
      <p:sp>
        <p:nvSpPr>
          <p:cNvPr id="8" name="Text 6"/>
          <p:cNvSpPr/>
          <p:nvPr/>
        </p:nvSpPr>
        <p:spPr>
          <a:xfrm>
            <a:off x="4572000" y="914400"/>
            <a:ext cx="3657600" cy="320040"/>
          </a:xfrm>
          <a:prstGeom prst="rect">
            <a:avLst/>
          </a:prstGeom>
          <a:noFill/>
          <a:ln/>
        </p:spPr>
        <p:txBody>
          <a:bodyPr wrap="square" rtlCol="0" anchor="ctr"/>
          <a:lstStyle/>
          <a:p>
            <a:pPr indent="0" marL="0">
              <a:buNone/>
            </a:pPr>
            <a:r>
              <a:rPr lang="en-US" sz="1600" b="1" dirty="0">
                <a:solidFill>
                  <a:srgbClr val="1E3A5F"/>
                </a:solidFill>
                <a:latin typeface="Microsoft YaHei" pitchFamily="34" charset="0"/>
                <a:ea typeface="Microsoft YaHei" pitchFamily="34" charset="-122"/>
                <a:cs typeface="Microsoft YaHei" pitchFamily="34" charset="-120"/>
              </a:rPr>
              <a:t>质量效益</a:t>
            </a:r>
            <a:endParaRPr lang="en-US" sz="1600" dirty="0"/>
          </a:p>
        </p:txBody>
      </p:sp>
      <p:sp>
        <p:nvSpPr>
          <p:cNvPr id="9" name="Text 7"/>
          <p:cNvSpPr/>
          <p:nvPr/>
        </p:nvSpPr>
        <p:spPr>
          <a:xfrm>
            <a:off x="4572000" y="1280160"/>
            <a:ext cx="3657600" cy="274320"/>
          </a:xfrm>
          <a:prstGeom prst="rect">
            <a:avLst/>
          </a:prstGeom>
          <a:noFill/>
          <a:ln/>
        </p:spPr>
        <p:txBody>
          <a:bodyPr wrap="square" rtlCol="0" anchor="ctr"/>
          <a:lstStyle/>
          <a:p>
            <a:pPr indent="0" marL="0">
              <a:buNone/>
            </a:pPr>
            <a:r>
              <a:rPr lang="en-US" sz="1300" dirty="0">
                <a:solidFill>
                  <a:srgbClr val="333333"/>
                </a:solidFill>
                <a:latin typeface="Microsoft YaHei" pitchFamily="34" charset="0"/>
                <a:ea typeface="Microsoft YaHei" pitchFamily="34" charset="-122"/>
                <a:cs typeface="Microsoft YaHei" pitchFamily="34" charset="-120"/>
              </a:rPr>
              <a:t>• 问题发现率近100%</a:t>
            </a:r>
            <a:endParaRPr lang="en-US" sz="1300" dirty="0"/>
          </a:p>
        </p:txBody>
      </p:sp>
      <p:sp>
        <p:nvSpPr>
          <p:cNvPr id="10" name="Text 8"/>
          <p:cNvSpPr/>
          <p:nvPr/>
        </p:nvSpPr>
        <p:spPr>
          <a:xfrm>
            <a:off x="4572000" y="1600200"/>
            <a:ext cx="3657600" cy="274320"/>
          </a:xfrm>
          <a:prstGeom prst="rect">
            <a:avLst/>
          </a:prstGeom>
          <a:noFill/>
          <a:ln/>
        </p:spPr>
        <p:txBody>
          <a:bodyPr wrap="square" rtlCol="0" anchor="ctr"/>
          <a:lstStyle/>
          <a:p>
            <a:pPr indent="0" marL="0">
              <a:buNone/>
            </a:pPr>
            <a:r>
              <a:rPr lang="en-US" sz="1300" dirty="0">
                <a:solidFill>
                  <a:srgbClr val="333333"/>
                </a:solidFill>
                <a:latin typeface="Microsoft YaHei" pitchFamily="34" charset="0"/>
                <a:ea typeface="Microsoft YaHei" pitchFamily="34" charset="-122"/>
                <a:cs typeface="Microsoft YaHei" pitchFamily="34" charset="-120"/>
              </a:rPr>
              <a:t>• 数据完整率提升至98%</a:t>
            </a:r>
            <a:endParaRPr lang="en-US" sz="1300" dirty="0"/>
          </a:p>
        </p:txBody>
      </p:sp>
      <p:sp>
        <p:nvSpPr>
          <p:cNvPr id="11" name="Text 9"/>
          <p:cNvSpPr/>
          <p:nvPr/>
        </p:nvSpPr>
        <p:spPr>
          <a:xfrm>
            <a:off x="4572000" y="1920240"/>
            <a:ext cx="3657600" cy="274320"/>
          </a:xfrm>
          <a:prstGeom prst="rect">
            <a:avLst/>
          </a:prstGeom>
          <a:noFill/>
          <a:ln/>
        </p:spPr>
        <p:txBody>
          <a:bodyPr wrap="square" rtlCol="0" anchor="ctr"/>
          <a:lstStyle/>
          <a:p>
            <a:pPr indent="0" marL="0">
              <a:buNone/>
            </a:pPr>
            <a:r>
              <a:rPr lang="en-US" sz="1300" dirty="0">
                <a:solidFill>
                  <a:srgbClr val="333333"/>
                </a:solidFill>
                <a:latin typeface="Microsoft YaHei" pitchFamily="34" charset="0"/>
                <a:ea typeface="Microsoft YaHei" pitchFamily="34" charset="-122"/>
                <a:cs typeface="Microsoft YaHei" pitchFamily="34" charset="-120"/>
              </a:rPr>
              <a:t>• 一次通过率95%</a:t>
            </a:r>
            <a:endParaRPr lang="en-US" sz="1300" dirty="0"/>
          </a:p>
        </p:txBody>
      </p:sp>
      <p:sp>
        <p:nvSpPr>
          <p:cNvPr id="12" name="Text 10"/>
          <p:cNvSpPr/>
          <p:nvPr/>
        </p:nvSpPr>
        <p:spPr>
          <a:xfrm>
            <a:off x="457200" y="2377440"/>
            <a:ext cx="3657600" cy="320040"/>
          </a:xfrm>
          <a:prstGeom prst="rect">
            <a:avLst/>
          </a:prstGeom>
          <a:noFill/>
          <a:ln/>
        </p:spPr>
        <p:txBody>
          <a:bodyPr wrap="square" rtlCol="0" anchor="ctr"/>
          <a:lstStyle/>
          <a:p>
            <a:pPr indent="0" marL="0">
              <a:buNone/>
            </a:pPr>
            <a:r>
              <a:rPr lang="en-US" sz="1600" b="1" dirty="0">
                <a:solidFill>
                  <a:srgbClr val="1E3A5F"/>
                </a:solidFill>
                <a:latin typeface="Microsoft YaHei" pitchFamily="34" charset="0"/>
                <a:ea typeface="Microsoft YaHei" pitchFamily="34" charset="-122"/>
                <a:cs typeface="Microsoft YaHei" pitchFamily="34" charset="-120"/>
              </a:rPr>
              <a:t>管理效益</a:t>
            </a:r>
            <a:endParaRPr lang="en-US" sz="1600" dirty="0"/>
          </a:p>
        </p:txBody>
      </p:sp>
      <p:sp>
        <p:nvSpPr>
          <p:cNvPr id="13" name="Text 11"/>
          <p:cNvSpPr/>
          <p:nvPr/>
        </p:nvSpPr>
        <p:spPr>
          <a:xfrm>
            <a:off x="457200" y="2743200"/>
            <a:ext cx="3657600" cy="274320"/>
          </a:xfrm>
          <a:prstGeom prst="rect">
            <a:avLst/>
          </a:prstGeom>
          <a:noFill/>
          <a:ln/>
        </p:spPr>
        <p:txBody>
          <a:bodyPr wrap="square" rtlCol="0" anchor="ctr"/>
          <a:lstStyle/>
          <a:p>
            <a:pPr indent="0" marL="0">
              <a:buNone/>
            </a:pPr>
            <a:r>
              <a:rPr lang="en-US" sz="1300" dirty="0">
                <a:solidFill>
                  <a:srgbClr val="333333"/>
                </a:solidFill>
                <a:latin typeface="Microsoft YaHei" pitchFamily="34" charset="0"/>
                <a:ea typeface="Microsoft YaHei" pitchFamily="34" charset="-122"/>
                <a:cs typeface="Microsoft YaHei" pitchFamily="34" charset="-120"/>
              </a:rPr>
              <a:t>• 标准完全统一</a:t>
            </a:r>
            <a:endParaRPr lang="en-US" sz="1300" dirty="0"/>
          </a:p>
        </p:txBody>
      </p:sp>
      <p:sp>
        <p:nvSpPr>
          <p:cNvPr id="14" name="Text 12"/>
          <p:cNvSpPr/>
          <p:nvPr/>
        </p:nvSpPr>
        <p:spPr>
          <a:xfrm>
            <a:off x="457200" y="3063240"/>
            <a:ext cx="3657600" cy="274320"/>
          </a:xfrm>
          <a:prstGeom prst="rect">
            <a:avLst/>
          </a:prstGeom>
          <a:noFill/>
          <a:ln/>
        </p:spPr>
        <p:txBody>
          <a:bodyPr wrap="square" rtlCol="0" anchor="ctr"/>
          <a:lstStyle/>
          <a:p>
            <a:pPr indent="0" marL="0">
              <a:buNone/>
            </a:pPr>
            <a:r>
              <a:rPr lang="en-US" sz="1300" dirty="0">
                <a:solidFill>
                  <a:srgbClr val="333333"/>
                </a:solidFill>
                <a:latin typeface="Microsoft YaHei" pitchFamily="34" charset="0"/>
                <a:ea typeface="Microsoft YaHei" pitchFamily="34" charset="-122"/>
                <a:cs typeface="Microsoft YaHei" pitchFamily="34" charset="-120"/>
              </a:rPr>
              <a:t>• 量化质量指标</a:t>
            </a:r>
            <a:endParaRPr lang="en-US" sz="1300" dirty="0"/>
          </a:p>
        </p:txBody>
      </p:sp>
      <p:sp>
        <p:nvSpPr>
          <p:cNvPr id="15" name="Text 13"/>
          <p:cNvSpPr/>
          <p:nvPr/>
        </p:nvSpPr>
        <p:spPr>
          <a:xfrm>
            <a:off x="457200" y="3383280"/>
            <a:ext cx="3657600" cy="274320"/>
          </a:xfrm>
          <a:prstGeom prst="rect">
            <a:avLst/>
          </a:prstGeom>
          <a:noFill/>
          <a:ln/>
        </p:spPr>
        <p:txBody>
          <a:bodyPr wrap="square" rtlCol="0" anchor="ctr"/>
          <a:lstStyle/>
          <a:p>
            <a:pPr indent="0" marL="0">
              <a:buNone/>
            </a:pPr>
            <a:r>
              <a:rPr lang="en-US" sz="1300" dirty="0">
                <a:solidFill>
                  <a:srgbClr val="333333"/>
                </a:solidFill>
                <a:latin typeface="Microsoft YaHei" pitchFamily="34" charset="0"/>
                <a:ea typeface="Microsoft YaHei" pitchFamily="34" charset="-122"/>
                <a:cs typeface="Microsoft YaHei" pitchFamily="34" charset="-120"/>
              </a:rPr>
              <a:t>• 客观验收依据</a:t>
            </a:r>
            <a:endParaRPr lang="en-US" sz="1300" dirty="0"/>
          </a:p>
        </p:txBody>
      </p:sp>
      <p:sp>
        <p:nvSpPr>
          <p:cNvPr id="16" name="Text 14"/>
          <p:cNvSpPr/>
          <p:nvPr/>
        </p:nvSpPr>
        <p:spPr>
          <a:xfrm>
            <a:off x="4572000" y="2377440"/>
            <a:ext cx="3657600" cy="320040"/>
          </a:xfrm>
          <a:prstGeom prst="rect">
            <a:avLst/>
          </a:prstGeom>
          <a:noFill/>
          <a:ln/>
        </p:spPr>
        <p:txBody>
          <a:bodyPr wrap="square" rtlCol="0" anchor="ctr"/>
          <a:lstStyle/>
          <a:p>
            <a:pPr indent="0" marL="0">
              <a:buNone/>
            </a:pPr>
            <a:r>
              <a:rPr lang="en-US" sz="1600" b="1" dirty="0">
                <a:solidFill>
                  <a:srgbClr val="1E3A5F"/>
                </a:solidFill>
                <a:latin typeface="Microsoft YaHei" pitchFamily="34" charset="0"/>
                <a:ea typeface="Microsoft YaHei" pitchFamily="34" charset="-122"/>
                <a:cs typeface="Microsoft YaHei" pitchFamily="34" charset="-120"/>
              </a:rPr>
              <a:t>创新效益</a:t>
            </a:r>
            <a:endParaRPr lang="en-US" sz="1600" dirty="0"/>
          </a:p>
        </p:txBody>
      </p:sp>
      <p:sp>
        <p:nvSpPr>
          <p:cNvPr id="17" name="Text 15"/>
          <p:cNvSpPr/>
          <p:nvPr/>
        </p:nvSpPr>
        <p:spPr>
          <a:xfrm>
            <a:off x="4572000" y="2743200"/>
            <a:ext cx="3657600" cy="274320"/>
          </a:xfrm>
          <a:prstGeom prst="rect">
            <a:avLst/>
          </a:prstGeom>
          <a:noFill/>
          <a:ln/>
        </p:spPr>
        <p:txBody>
          <a:bodyPr wrap="square" rtlCol="0" anchor="ctr"/>
          <a:lstStyle/>
          <a:p>
            <a:pPr indent="0" marL="0">
              <a:buNone/>
            </a:pPr>
            <a:r>
              <a:rPr lang="en-US" sz="1300" dirty="0">
                <a:solidFill>
                  <a:srgbClr val="333333"/>
                </a:solidFill>
                <a:latin typeface="Microsoft YaHei" pitchFamily="34" charset="0"/>
                <a:ea typeface="Microsoft YaHei" pitchFamily="34" charset="-122"/>
                <a:cs typeface="Microsoft YaHei" pitchFamily="34" charset="-120"/>
              </a:rPr>
              <a:t>• AI落地典型实践</a:t>
            </a:r>
            <a:endParaRPr lang="en-US" sz="1300" dirty="0"/>
          </a:p>
        </p:txBody>
      </p:sp>
      <p:sp>
        <p:nvSpPr>
          <p:cNvPr id="18" name="Text 16"/>
          <p:cNvSpPr/>
          <p:nvPr/>
        </p:nvSpPr>
        <p:spPr>
          <a:xfrm>
            <a:off x="4572000" y="3063240"/>
            <a:ext cx="3657600" cy="274320"/>
          </a:xfrm>
          <a:prstGeom prst="rect">
            <a:avLst/>
          </a:prstGeom>
          <a:noFill/>
          <a:ln/>
        </p:spPr>
        <p:txBody>
          <a:bodyPr wrap="square" rtlCol="0" anchor="ctr"/>
          <a:lstStyle/>
          <a:p>
            <a:pPr indent="0" marL="0">
              <a:buNone/>
            </a:pPr>
            <a:r>
              <a:rPr lang="en-US" sz="1300" dirty="0">
                <a:solidFill>
                  <a:srgbClr val="333333"/>
                </a:solidFill>
                <a:latin typeface="Microsoft YaHei" pitchFamily="34" charset="0"/>
                <a:ea typeface="Microsoft YaHei" pitchFamily="34" charset="-122"/>
                <a:cs typeface="Microsoft YaHei" pitchFamily="34" charset="-120"/>
              </a:rPr>
              <a:t>• 轻量化易推广</a:t>
            </a:r>
            <a:endParaRPr lang="en-US" sz="1300" dirty="0"/>
          </a:p>
        </p:txBody>
      </p:sp>
      <p:sp>
        <p:nvSpPr>
          <p:cNvPr id="19" name="Text 17"/>
          <p:cNvSpPr/>
          <p:nvPr/>
        </p:nvSpPr>
        <p:spPr>
          <a:xfrm>
            <a:off x="4572000" y="3383280"/>
            <a:ext cx="3657600" cy="274320"/>
          </a:xfrm>
          <a:prstGeom prst="rect">
            <a:avLst/>
          </a:prstGeom>
          <a:noFill/>
          <a:ln/>
        </p:spPr>
        <p:txBody>
          <a:bodyPr wrap="square" rtlCol="0" anchor="ctr"/>
          <a:lstStyle/>
          <a:p>
            <a:pPr indent="0" marL="0">
              <a:buNone/>
            </a:pPr>
            <a:r>
              <a:rPr lang="en-US" sz="1300" dirty="0">
                <a:solidFill>
                  <a:srgbClr val="333333"/>
                </a:solidFill>
                <a:latin typeface="Microsoft YaHei" pitchFamily="34" charset="0"/>
                <a:ea typeface="Microsoft YaHei" pitchFamily="34" charset="-122"/>
                <a:cs typeface="Microsoft YaHei" pitchFamily="34" charset="-120"/>
              </a:rPr>
              <a:t>• 持续迭代优化</a:t>
            </a:r>
            <a:endParaRPr lang="en-US" sz="1300" dirty="0"/>
          </a:p>
        </p:txBody>
      </p:sp>
      <p:sp>
        <p:nvSpPr>
          <p:cNvPr id="20" name="Text 18"/>
          <p:cNvSpPr/>
          <p:nvPr/>
        </p:nvSpPr>
        <p:spPr>
          <a:xfrm>
            <a:off x="8412480" y="4754880"/>
            <a:ext cx="457200" cy="274320"/>
          </a:xfrm>
          <a:prstGeom prst="rect">
            <a:avLst/>
          </a:prstGeom>
          <a:noFill/>
          <a:ln/>
        </p:spPr>
        <p:txBody>
          <a:bodyPr wrap="square" rtlCol="0" anchor="ctr"/>
          <a:lstStyle/>
          <a:p>
            <a:pPr algn="r" indent="0" marL="0">
              <a:buNone/>
            </a:pPr>
            <a:r>
              <a:rPr lang="en-US" sz="1200" dirty="0">
                <a:solidFill>
                  <a:srgbClr val="4A90D9"/>
                </a:solidFill>
                <a:latin typeface="Arial" pitchFamily="34" charset="0"/>
                <a:ea typeface="Arial" pitchFamily="34" charset="-122"/>
                <a:cs typeface="Arial"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1E3A5F"/>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1E3A5F"/>
                </a:solidFill>
                <a:latin typeface="Microsoft YaHei" pitchFamily="34" charset="0"/>
                <a:ea typeface="Microsoft YaHei" pitchFamily="34" charset="-122"/>
                <a:cs typeface="Microsoft YaHei" pitchFamily="34" charset="-120"/>
              </a:rPr>
              <a:t>总结与展望</a:t>
            </a:r>
            <a:endParaRPr lang="en-US" sz="2400" dirty="0"/>
          </a:p>
        </p:txBody>
      </p:sp>
      <p:sp>
        <p:nvSpPr>
          <p:cNvPr id="4" name="Text 2"/>
          <p:cNvSpPr/>
          <p:nvPr/>
        </p:nvSpPr>
        <p:spPr>
          <a:xfrm>
            <a:off x="457200" y="914400"/>
            <a:ext cx="8229600" cy="320040"/>
          </a:xfrm>
          <a:prstGeom prst="rect">
            <a:avLst/>
          </a:prstGeom>
          <a:noFill/>
          <a:ln/>
        </p:spPr>
        <p:txBody>
          <a:bodyPr wrap="square" rtlCol="0" anchor="ctr"/>
          <a:lstStyle/>
          <a:p>
            <a:pPr indent="0" marL="0">
              <a:buNone/>
            </a:pPr>
            <a:r>
              <a:rPr lang="en-US" sz="1800" b="1" dirty="0">
                <a:solidFill>
                  <a:srgbClr val="1E3A5F"/>
                </a:solidFill>
                <a:latin typeface="Microsoft YaHei" pitchFamily="34" charset="0"/>
                <a:ea typeface="Microsoft YaHei" pitchFamily="34" charset="-122"/>
                <a:cs typeface="Microsoft YaHei" pitchFamily="34" charset="-120"/>
              </a:rPr>
              <a:t>核心成果</a:t>
            </a:r>
            <a:endParaRPr lang="en-US" sz="1800" dirty="0"/>
          </a:p>
        </p:txBody>
      </p:sp>
      <p:sp>
        <p:nvSpPr>
          <p:cNvPr id="5" name="Text 3"/>
          <p:cNvSpPr/>
          <p:nvPr/>
        </p:nvSpPr>
        <p:spPr>
          <a:xfrm>
            <a:off x="457200" y="1280160"/>
            <a:ext cx="4114800" cy="274320"/>
          </a:xfrm>
          <a:prstGeom prst="rect">
            <a:avLst/>
          </a:prstGeom>
          <a:noFill/>
          <a:ln/>
        </p:spPr>
        <p:txBody>
          <a:bodyPr wrap="square" rtlCol="0" anchor="ctr"/>
          <a:lstStyle/>
          <a:p>
            <a:pPr indent="0" marL="0">
              <a:buNone/>
            </a:pPr>
            <a:r>
              <a:rPr lang="en-US" sz="1400" dirty="0">
                <a:solidFill>
                  <a:srgbClr val="333333"/>
                </a:solidFill>
                <a:latin typeface="Microsoft YaHei" pitchFamily="34" charset="0"/>
                <a:ea typeface="Microsoft YaHei" pitchFamily="34" charset="-122"/>
                <a:cs typeface="Microsoft YaHei" pitchFamily="34" charset="-120"/>
              </a:rPr>
              <a:t>• 破解传统审核痛点</a:t>
            </a:r>
            <a:endParaRPr lang="en-US" sz="1400" dirty="0"/>
          </a:p>
        </p:txBody>
      </p:sp>
      <p:sp>
        <p:nvSpPr>
          <p:cNvPr id="6" name="Text 4"/>
          <p:cNvSpPr/>
          <p:nvPr/>
        </p:nvSpPr>
        <p:spPr>
          <a:xfrm>
            <a:off x="457200" y="1600200"/>
            <a:ext cx="4114800" cy="274320"/>
          </a:xfrm>
          <a:prstGeom prst="rect">
            <a:avLst/>
          </a:prstGeom>
          <a:noFill/>
          <a:ln/>
        </p:spPr>
        <p:txBody>
          <a:bodyPr wrap="square" rtlCol="0" anchor="ctr"/>
          <a:lstStyle/>
          <a:p>
            <a:pPr indent="0" marL="0">
              <a:buNone/>
            </a:pPr>
            <a:r>
              <a:rPr lang="en-US" sz="1400" dirty="0">
                <a:solidFill>
                  <a:srgbClr val="333333"/>
                </a:solidFill>
                <a:latin typeface="Microsoft YaHei" pitchFamily="34" charset="0"/>
                <a:ea typeface="Microsoft YaHei" pitchFamily="34" charset="-122"/>
                <a:cs typeface="Microsoft YaHei" pitchFamily="34" charset="-120"/>
              </a:rPr>
              <a:t>• 实现行业产品超越</a:t>
            </a:r>
            <a:endParaRPr lang="en-US" sz="1400" dirty="0"/>
          </a:p>
        </p:txBody>
      </p:sp>
      <p:sp>
        <p:nvSpPr>
          <p:cNvPr id="7" name="Text 5"/>
          <p:cNvSpPr/>
          <p:nvPr/>
        </p:nvSpPr>
        <p:spPr>
          <a:xfrm>
            <a:off x="457200" y="1920240"/>
            <a:ext cx="4114800" cy="274320"/>
          </a:xfrm>
          <a:prstGeom prst="rect">
            <a:avLst/>
          </a:prstGeom>
          <a:noFill/>
          <a:ln/>
        </p:spPr>
        <p:txBody>
          <a:bodyPr wrap="square" rtlCol="0" anchor="ctr"/>
          <a:lstStyle/>
          <a:p>
            <a:pPr indent="0" marL="0">
              <a:buNone/>
            </a:pPr>
            <a:r>
              <a:rPr lang="en-US" sz="1400" dirty="0">
                <a:solidFill>
                  <a:srgbClr val="333333"/>
                </a:solidFill>
                <a:latin typeface="Microsoft YaHei" pitchFamily="34" charset="0"/>
                <a:ea typeface="Microsoft YaHei" pitchFamily="34" charset="-122"/>
                <a:cs typeface="Microsoft YaHei" pitchFamily="34" charset="-120"/>
              </a:rPr>
              <a:t>• AI创新务实落地</a:t>
            </a:r>
            <a:endParaRPr lang="en-US" sz="1400" dirty="0"/>
          </a:p>
        </p:txBody>
      </p:sp>
      <p:sp>
        <p:nvSpPr>
          <p:cNvPr id="8" name="Text 6"/>
          <p:cNvSpPr/>
          <p:nvPr/>
        </p:nvSpPr>
        <p:spPr>
          <a:xfrm>
            <a:off x="457200" y="2240280"/>
            <a:ext cx="4114800" cy="274320"/>
          </a:xfrm>
          <a:prstGeom prst="rect">
            <a:avLst/>
          </a:prstGeom>
          <a:noFill/>
          <a:ln/>
        </p:spPr>
        <p:txBody>
          <a:bodyPr wrap="square" rtlCol="0" anchor="ctr"/>
          <a:lstStyle/>
          <a:p>
            <a:pPr indent="0" marL="0">
              <a:buNone/>
            </a:pPr>
            <a:r>
              <a:rPr lang="en-US" sz="1400" dirty="0">
                <a:solidFill>
                  <a:srgbClr val="333333"/>
                </a:solidFill>
                <a:latin typeface="Microsoft YaHei" pitchFamily="34" charset="0"/>
                <a:ea typeface="Microsoft YaHei" pitchFamily="34" charset="-122"/>
                <a:cs typeface="Microsoft YaHei" pitchFamily="34" charset="-120"/>
              </a:rPr>
              <a:t>• 持续迭代优化升级</a:t>
            </a:r>
            <a:endParaRPr lang="en-US" sz="1400" dirty="0"/>
          </a:p>
        </p:txBody>
      </p:sp>
      <p:sp>
        <p:nvSpPr>
          <p:cNvPr id="9" name="Text 7"/>
          <p:cNvSpPr/>
          <p:nvPr/>
        </p:nvSpPr>
        <p:spPr>
          <a:xfrm>
            <a:off x="457200" y="2651760"/>
            <a:ext cx="8229600" cy="320040"/>
          </a:xfrm>
          <a:prstGeom prst="rect">
            <a:avLst/>
          </a:prstGeom>
          <a:noFill/>
          <a:ln/>
        </p:spPr>
        <p:txBody>
          <a:bodyPr wrap="square" rtlCol="0" anchor="ctr"/>
          <a:lstStyle/>
          <a:p>
            <a:pPr indent="0" marL="0">
              <a:buNone/>
            </a:pPr>
            <a:r>
              <a:rPr lang="en-US" sz="1800" b="1" dirty="0">
                <a:solidFill>
                  <a:srgbClr val="1E3A5F"/>
                </a:solidFill>
                <a:latin typeface="Microsoft YaHei" pitchFamily="34" charset="0"/>
                <a:ea typeface="Microsoft YaHei" pitchFamily="34" charset="-122"/>
                <a:cs typeface="Microsoft YaHei" pitchFamily="34" charset="-120"/>
              </a:rPr>
              <a:t>未来展望</a:t>
            </a:r>
            <a:endParaRPr lang="en-US" sz="1800" dirty="0"/>
          </a:p>
        </p:txBody>
      </p:sp>
      <p:sp>
        <p:nvSpPr>
          <p:cNvPr id="10" name="Text 8"/>
          <p:cNvSpPr/>
          <p:nvPr/>
        </p:nvSpPr>
        <p:spPr>
          <a:xfrm>
            <a:off x="457200" y="3017520"/>
            <a:ext cx="8229600" cy="822960"/>
          </a:xfrm>
          <a:prstGeom prst="rect">
            <a:avLst/>
          </a:prstGeom>
          <a:noFill/>
          <a:ln/>
        </p:spPr>
        <p:txBody>
          <a:bodyPr wrap="square" rtlCol="0" anchor="ctr"/>
          <a:lstStyle/>
          <a:p>
            <a:pPr indent="0" marL="0">
              <a:buNone/>
            </a:pPr>
            <a:r>
              <a:rPr lang="en-US" sz="1400" dirty="0">
                <a:solidFill>
                  <a:srgbClr val="333333"/>
                </a:solidFill>
                <a:latin typeface="Microsoft YaHei" pitchFamily="34" charset="0"/>
                <a:ea typeface="Microsoft YaHei" pitchFamily="34" charset="-122"/>
                <a:cs typeface="Microsoft YaHei" pitchFamily="34" charset="-120"/>
              </a:rPr>
              <a:t>紧密跟进行业最新技术规范，动态新增适配功能</a:t>
            </a:r>
            <a:endParaRPr lang="en-US" sz="1400" dirty="0"/>
          </a:p>
          <a:p>
            <a:pPr indent="0" marL="0">
              <a:buNone/>
            </a:pPr>
            <a:r>
              <a:rPr lang="en-US" sz="1400" dirty="0">
                <a:solidFill>
                  <a:srgbClr val="333333"/>
                </a:solidFill>
                <a:latin typeface="Microsoft YaHei" pitchFamily="34" charset="0"/>
                <a:ea typeface="Microsoft YaHei" pitchFamily="34" charset="-122"/>
                <a:cs typeface="Microsoft YaHei" pitchFamily="34" charset="-120"/>
              </a:rPr>
              <a:t>完善审核规则、拓展应用场景、提升智能化水平</a:t>
            </a:r>
            <a:endParaRPr lang="en-US" sz="1400" dirty="0"/>
          </a:p>
          <a:p>
            <a:pPr indent="0" marL="0">
              <a:buNone/>
            </a:pPr>
            <a:r>
              <a:rPr lang="en-US" sz="1400" dirty="0">
                <a:solidFill>
                  <a:srgbClr val="333333"/>
                </a:solidFill>
                <a:latin typeface="Microsoft YaHei" pitchFamily="34" charset="0"/>
                <a:ea typeface="Microsoft YaHei" pitchFamily="34" charset="-122"/>
                <a:cs typeface="Microsoft YaHei" pitchFamily="34" charset="-120"/>
              </a:rPr>
              <a:t>以技术创新赋能业务升级，发展前景广阔</a:t>
            </a:r>
            <a:endParaRPr lang="en-US" sz="1400" dirty="0"/>
          </a:p>
        </p:txBody>
      </p:sp>
      <p:sp>
        <p:nvSpPr>
          <p:cNvPr id="11" name="Text 9"/>
          <p:cNvSpPr/>
          <p:nvPr/>
        </p:nvSpPr>
        <p:spPr>
          <a:xfrm>
            <a:off x="457200" y="4114800"/>
            <a:ext cx="8229600" cy="457200"/>
          </a:xfrm>
          <a:prstGeom prst="rect">
            <a:avLst/>
          </a:prstGeom>
          <a:noFill/>
          <a:ln/>
        </p:spPr>
        <p:txBody>
          <a:bodyPr wrap="square" rtlCol="0" anchor="ctr"/>
          <a:lstStyle/>
          <a:p>
            <a:pPr algn="ctr" indent="0" marL="0">
              <a:buNone/>
            </a:pPr>
            <a:r>
              <a:rPr lang="en-US" sz="2200" b="1" dirty="0">
                <a:solidFill>
                  <a:srgbClr val="4A90D9"/>
                </a:solidFill>
                <a:latin typeface="Microsoft YaHei" pitchFamily="34" charset="0"/>
                <a:ea typeface="Microsoft YaHei" pitchFamily="34" charset="-122"/>
                <a:cs typeface="Microsoft YaHei" pitchFamily="34" charset="-120"/>
              </a:rPr>
              <a:t>感谢观看</a:t>
            </a:r>
            <a:endParaRPr lang="en-US" sz="2200" dirty="0"/>
          </a:p>
        </p:txBody>
      </p:sp>
      <p:sp>
        <p:nvSpPr>
          <p:cNvPr id="12" name="Text 10"/>
          <p:cNvSpPr/>
          <p:nvPr/>
        </p:nvSpPr>
        <p:spPr>
          <a:xfrm>
            <a:off x="8412480" y="4754880"/>
            <a:ext cx="457200" cy="274320"/>
          </a:xfrm>
          <a:prstGeom prst="rect">
            <a:avLst/>
          </a:prstGeom>
          <a:noFill/>
          <a:ln/>
        </p:spPr>
        <p:txBody>
          <a:bodyPr wrap="square" rtlCol="0" anchor="ctr"/>
          <a:lstStyle/>
          <a:p>
            <a:pPr algn="r" indent="0" marL="0">
              <a:buNone/>
            </a:pPr>
            <a:r>
              <a:rPr lang="en-US" sz="1200" dirty="0">
                <a:solidFill>
                  <a:srgbClr val="4A90D9"/>
                </a:solidFill>
                <a:latin typeface="Arial" pitchFamily="34" charset="0"/>
                <a:ea typeface="Arial" pitchFamily="34" charset="-122"/>
                <a:cs typeface="Arial" pitchFamily="34" charset="-120"/>
              </a:rPr>
              <a:t>11</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2026-04-09T06:41:11Z</dcterms:created>
  <dcterms:modified xsi:type="dcterms:W3CDTF">2026-04-09T06:41:11Z</dcterms:modified>
</cp:coreProperties>
</file>